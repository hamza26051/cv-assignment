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team and say: This project investigates attribute-based pedestrian retrieval in UPAR Challenge 2027 Track 2. Our input is a 40-attribute binary description, and our output is a ranked set of pedestrian images.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Describe the retrieval interface. Each query is a 40-element vector of present or absent attributes. The model processes gallery images and ranks them. The illustrated gallery is a conceptual example, not generated predictions.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three source datasets and distinguish training images, validation gallery and validation queries. The public validation setting contains 3,462 distinct attribute queries against 33,407 images. These counts are from the organizer data guide.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that three independent backbone runs were trained. V3 is an additional retrieval head on top of frozen ConvNeXt baseline features; the Hybrid is separately trained. The final 65/35 fusion does not retrain those models.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V3 combines Bernoulli negative log likelihood with cosine embedding distance using equal weights. CLEAN Hybrid combines expected L1 attribute distance and cosine distance at 60/40. For each query, we standardize each model’s distances over the gallery, then fuse the normalized distances at 65/35. Lower means better.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this as retrieval ranking performance, not binary-classification accuracy. Our strongest local full-validation score was 69.63% mADM. It exceeded CLEAN Hybrid at 67.26%, V3 at 66.56%, the ConvNeXt baseline at 63.13% and ResNet at 58.53%. Do not confuse this with the official Codabench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a separate attribute audit, the model made about 2.38 mistakes among 40 attributes per image, and only 20.18% of gallery images had all attributes classified correctly. Hard cases include bags, normal glasses and similar lower-body colors, plus dataset domain shift. These diagnostic statistics do not directly measure the final ensemble mADM.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Stop presenting slides and switch to your Colab demo. Use the real final run.py and assets. Show the attribute input vector, model loading, distances and top five ranked gallery images. The audience should see actual predictions, not a mocked-up user interface. Afterwards return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the distinction explicit: 69.63% is public validation mADM measured locally. The competition screenshot shows completed submission 1001454 with displayed score 0.5361, versus 0.4826 for an earlier submission. We cannot conclude the values use the same metric or evaluation split.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Conclude: The final fixed 65/35 ensemble improved public-validation retrieval ranking over the component systems. Future work will focus on difficult attributes, stronger held-out testing and fully reproducible runtime evaluation. Thank the audience and offer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IN">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52A3A"/>
        </a:solidFill>
      </p:bgPr>
    </p:bg>
    <p:spTree>
      <p:nvGrpSpPr>
        <p:cNvPr id="1" name=""/>
        <p:cNvGrpSpPr/>
        <p:nvPr/>
      </p:nvGrpSpPr>
      <p:grpSpPr>
        <a:xfrm>
          <a:off x="0" y="0"/>
          <a:ext cx="0" cy="0"/>
          <a:chOff x="0" y="0"/>
          <a:chExt cx="0" cy="0"/>
        </a:xfrm>
      </p:grpSpPr>
      <p:sp>
        <p:nvSpPr>
          <p:cNvPr id="2" name="Shape 0"/>
          <p:cNvSpPr/>
          <p:nvPr/>
        </p:nvSpPr>
        <p:spPr>
          <a:xfrm>
            <a:off x="658368" y="960120"/>
            <a:ext cx="82296" cy="4206240"/>
          </a:xfrm>
          <a:prstGeom prst="rect">
            <a:avLst/>
          </a:prstGeom>
          <a:solidFill>
            <a:srgbClr val="397D82"/>
          </a:solidFill>
          <a:ln w="12700">
            <a:solidFill>
              <a:srgbClr val="397D82">
                <a:alpha val="0"/>
              </a:srgbClr>
            </a:solidFill>
            <a:prstDash val="solid"/>
          </a:ln>
        </p:spPr>
      </p:sp>
      <p:sp>
        <p:nvSpPr>
          <p:cNvPr id="3" name="Text 1"/>
          <p:cNvSpPr/>
          <p:nvPr/>
        </p:nvSpPr>
        <p:spPr>
          <a:xfrm>
            <a:off x="969264" y="1060704"/>
            <a:ext cx="9144000" cy="301752"/>
          </a:xfrm>
          <a:prstGeom prst="rect">
            <a:avLst/>
          </a:prstGeom>
          <a:noFill/>
          <a:ln/>
        </p:spPr>
        <p:txBody>
          <a:bodyPr wrap="square" lIns="0" tIns="0" rIns="0" bIns="0" rtlCol="0" anchor="ctr">
            <a:normAutofit/>
          </a:bodyPr>
          <a:lstStyle/>
          <a:p>
            <a:pPr algn="l" indent="0" marL="0">
              <a:buNone/>
            </a:pPr>
            <a:r>
              <a:rPr lang="en-US" sz="1250" b="1" spc="180" kern="0" dirty="0">
                <a:solidFill>
                  <a:srgbClr val="B7D5D6"/>
                </a:solidFill>
                <a:latin typeface="Aptos" pitchFamily="34" charset="0"/>
                <a:ea typeface="Aptos" pitchFamily="34" charset="-122"/>
                <a:cs typeface="Aptos" pitchFamily="34" charset="-120"/>
              </a:rPr>
              <a:t>UPAR CHALLENGE 2027     /     TRACK 02</a:t>
            </a:r>
            <a:endParaRPr lang="en-US" sz="1250" dirty="0"/>
          </a:p>
        </p:txBody>
      </p:sp>
      <p:sp>
        <p:nvSpPr>
          <p:cNvPr id="4" name="Text 2"/>
          <p:cNvSpPr/>
          <p:nvPr/>
        </p:nvSpPr>
        <p:spPr>
          <a:xfrm>
            <a:off x="960120" y="1847088"/>
            <a:ext cx="10058400" cy="1572768"/>
          </a:xfrm>
          <a:prstGeom prst="rect">
            <a:avLst/>
          </a:prstGeom>
          <a:noFill/>
          <a:ln/>
        </p:spPr>
        <p:txBody>
          <a:bodyPr wrap="square" lIns="0" tIns="0" rIns="0" bIns="0" rtlCol="0" anchor="ctr">
            <a:normAutofit/>
          </a:bodyPr>
          <a:lstStyle/>
          <a:p>
            <a:pPr algn="l" indent="0" marL="0">
              <a:buNone/>
            </a:pPr>
            <a:r>
              <a:rPr lang="en-US" sz="4350" b="1" dirty="0">
                <a:solidFill>
                  <a:srgbClr val="FFFFFF"/>
                </a:solidFill>
                <a:latin typeface="Aptos" pitchFamily="34" charset="0"/>
                <a:ea typeface="Aptos" pitchFamily="34" charset="-122"/>
                <a:cs typeface="Aptos" pitchFamily="34" charset="-120"/>
              </a:rPr>
              <a:t>Attribute-Based</a:t>
            </a:r>
            <a:endParaRPr lang="en-US" sz="4350" dirty="0"/>
          </a:p>
          <a:p>
            <a:pPr algn="l" indent="0" marL="0">
              <a:buNone/>
            </a:pPr>
            <a:r>
              <a:rPr lang="en-US" sz="4350" b="1" dirty="0">
                <a:solidFill>
                  <a:srgbClr val="FFFFFF"/>
                </a:solidFill>
                <a:latin typeface="Aptos" pitchFamily="34" charset="0"/>
                <a:ea typeface="Aptos" pitchFamily="34" charset="-122"/>
                <a:cs typeface="Aptos" pitchFamily="34" charset="-120"/>
              </a:rPr>
              <a:t>Pedestrian Retrieval</a:t>
            </a:r>
            <a:endParaRPr lang="en-US" sz="4350" dirty="0"/>
          </a:p>
        </p:txBody>
      </p:sp>
      <p:sp>
        <p:nvSpPr>
          <p:cNvPr id="5" name="Text 3"/>
          <p:cNvSpPr/>
          <p:nvPr/>
        </p:nvSpPr>
        <p:spPr>
          <a:xfrm>
            <a:off x="978408" y="3867912"/>
            <a:ext cx="9875520" cy="502920"/>
          </a:xfrm>
          <a:prstGeom prst="rect">
            <a:avLst/>
          </a:prstGeom>
          <a:noFill/>
          <a:ln/>
        </p:spPr>
        <p:txBody>
          <a:bodyPr wrap="square" lIns="0" tIns="0" rIns="0" bIns="0" rtlCol="0" anchor="ctr">
            <a:normAutofit/>
          </a:bodyPr>
          <a:lstStyle/>
          <a:p>
            <a:pPr algn="l" indent="0" marL="0">
              <a:buNone/>
            </a:pPr>
            <a:r>
              <a:rPr lang="en-US" sz="2050" dirty="0">
                <a:solidFill>
                  <a:srgbClr val="B5C3C9"/>
                </a:solidFill>
                <a:latin typeface="Aptos" pitchFamily="34" charset="0"/>
                <a:ea typeface="Aptos" pitchFamily="34" charset="-122"/>
                <a:cs typeface="Aptos" pitchFamily="34" charset="-120"/>
              </a:rPr>
              <a:t>From 40 binary attributes to ranked gallery images</a:t>
            </a:r>
            <a:endParaRPr lang="en-US" sz="2050" dirty="0"/>
          </a:p>
        </p:txBody>
      </p:sp>
      <p:sp>
        <p:nvSpPr>
          <p:cNvPr id="6" name="Shape 4"/>
          <p:cNvSpPr/>
          <p:nvPr/>
        </p:nvSpPr>
        <p:spPr>
          <a:xfrm>
            <a:off x="987552" y="5120640"/>
            <a:ext cx="10094976" cy="0"/>
          </a:xfrm>
          <a:prstGeom prst="line">
            <a:avLst/>
          </a:prstGeom>
          <a:noFill/>
          <a:ln w="12700">
            <a:solidFill>
              <a:srgbClr val="59707D"/>
            </a:solidFill>
            <a:prstDash val="solid"/>
          </a:ln>
        </p:spPr>
      </p:sp>
      <p:sp>
        <p:nvSpPr>
          <p:cNvPr id="7" name="Text 5"/>
          <p:cNvSpPr/>
          <p:nvPr/>
        </p:nvSpPr>
        <p:spPr>
          <a:xfrm>
            <a:off x="987552" y="5413248"/>
            <a:ext cx="10058400" cy="274320"/>
          </a:xfrm>
          <a:prstGeom prst="rect">
            <a:avLst/>
          </a:prstGeom>
          <a:noFill/>
          <a:ln/>
        </p:spPr>
        <p:txBody>
          <a:bodyPr wrap="square" lIns="0" tIns="0" rIns="0" bIns="0" rtlCol="0" anchor="ctr">
            <a:normAutofit/>
          </a:bodyPr>
          <a:lstStyle/>
          <a:p>
            <a:pPr algn="l" indent="0" marL="0">
              <a:buNone/>
            </a:pPr>
            <a:r>
              <a:rPr lang="en-US" sz="1210" b="1" spc="65" kern="0" dirty="0">
                <a:solidFill>
                  <a:srgbClr val="E1E7E9"/>
                </a:solidFill>
                <a:latin typeface="Aptos" pitchFamily="34" charset="0"/>
                <a:ea typeface="Aptos" pitchFamily="34" charset="-122"/>
                <a:cs typeface="Aptos" pitchFamily="34" charset="-120"/>
              </a:rPr>
              <a:t>EMMAN ABRAR   ·   AREEBA HASNAIN   ·   HAMZA SHEIKH</a:t>
            </a:r>
            <a:endParaRPr lang="en-US" sz="1210" dirty="0"/>
          </a:p>
        </p:txBody>
      </p:sp>
      <p:sp>
        <p:nvSpPr>
          <p:cNvPr id="8" name="Text 6"/>
          <p:cNvSpPr/>
          <p:nvPr/>
        </p:nvSpPr>
        <p:spPr>
          <a:xfrm>
            <a:off x="987552" y="5897880"/>
            <a:ext cx="10058400" cy="274320"/>
          </a:xfrm>
          <a:prstGeom prst="rect">
            <a:avLst/>
          </a:prstGeom>
          <a:noFill/>
          <a:ln/>
        </p:spPr>
        <p:txBody>
          <a:bodyPr wrap="square" lIns="0" tIns="0" rIns="0" bIns="0" rtlCol="0" anchor="ctr">
            <a:normAutofit/>
          </a:bodyPr>
          <a:lstStyle/>
          <a:p>
            <a:pPr algn="l" indent="0" marL="0">
              <a:buNone/>
            </a:pPr>
            <a:r>
              <a:rPr lang="en-US" sz="1060" spc="30" kern="0" dirty="0">
                <a:solidFill>
                  <a:srgbClr val="A2B1BA"/>
                </a:solidFill>
                <a:latin typeface="Aptos" pitchFamily="34" charset="0"/>
                <a:ea typeface="Aptos" pitchFamily="34" charset="-122"/>
                <a:cs typeface="Aptos" pitchFamily="34" charset="-120"/>
              </a:rPr>
              <a:t>FAST-NUCES     |     COMPUTER VISION PROJECT DEMONSTRATION</a:t>
            </a:r>
            <a:endParaRPr lang="en-US" sz="106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2743200" cy="228600"/>
          </a:xfrm>
          <a:prstGeom prst="rect">
            <a:avLst/>
          </a:prstGeom>
          <a:noFill/>
          <a:ln/>
        </p:spPr>
        <p:txBody>
          <a:bodyPr wrap="square" lIns="0" tIns="0" rIns="0" bIns="0" rtlCol="0" anchor="ctr">
            <a:normAutofit/>
          </a:bodyPr>
          <a:lstStyle/>
          <a:p>
            <a:pPr algn="l" indent="0" marL="0">
              <a:buNone/>
            </a:pPr>
            <a:r>
              <a:rPr lang="en-US" sz="1000" b="1" spc="135" kern="0" dirty="0">
                <a:solidFill>
                  <a:srgbClr val="768794"/>
                </a:solidFill>
                <a:latin typeface="Aptos" pitchFamily="34" charset="0"/>
                <a:ea typeface="Aptos" pitchFamily="34" charset="-122"/>
                <a:cs typeface="Aptos" pitchFamily="34" charset="-120"/>
              </a:rPr>
              <a:t>UPAR   /   TRACK 02</a:t>
            </a:r>
            <a:endParaRPr lang="en-US" sz="1000" dirty="0"/>
          </a:p>
        </p:txBody>
      </p:sp>
      <p:sp>
        <p:nvSpPr>
          <p:cNvPr id="3" name="Text 1"/>
          <p:cNvSpPr/>
          <p:nvPr/>
        </p:nvSpPr>
        <p:spPr>
          <a:xfrm>
            <a:off x="11036808" y="310896"/>
            <a:ext cx="566928" cy="219456"/>
          </a:xfrm>
          <a:prstGeom prst="rect">
            <a:avLst/>
          </a:prstGeom>
          <a:noFill/>
          <a:ln/>
        </p:spPr>
        <p:txBody>
          <a:bodyPr wrap="square" lIns="0" tIns="0" rIns="0" bIns="0" rtlCol="0" anchor="ctr">
            <a:normAutofit/>
          </a:bodyPr>
          <a:lstStyle/>
          <a:p>
            <a:pPr algn="r" indent="0" marL="0">
              <a:buNone/>
            </a:pPr>
            <a:r>
              <a:rPr lang="en-US" sz="1020" b="1" dirty="0">
                <a:solidFill>
                  <a:srgbClr val="768794"/>
                </a:solidFill>
                <a:latin typeface="Aptos" pitchFamily="34" charset="0"/>
                <a:ea typeface="Aptos" pitchFamily="34" charset="-122"/>
                <a:cs typeface="Aptos" pitchFamily="34" charset="-120"/>
              </a:rPr>
              <a:t>02</a:t>
            </a:r>
            <a:endParaRPr lang="en-US" sz="1020" dirty="0"/>
          </a:p>
        </p:txBody>
      </p:sp>
      <p:sp>
        <p:nvSpPr>
          <p:cNvPr id="4" name="Shape 2"/>
          <p:cNvSpPr/>
          <p:nvPr/>
        </p:nvSpPr>
        <p:spPr>
          <a:xfrm>
            <a:off x="566928" y="731520"/>
            <a:ext cx="11045952" cy="0"/>
          </a:xfrm>
          <a:prstGeom prst="line">
            <a:avLst/>
          </a:prstGeom>
          <a:noFill/>
          <a:ln w="10160">
            <a:solidFill>
              <a:srgbClr val="DCE5E8"/>
            </a:solidFill>
            <a:prstDash val="solid"/>
          </a:ln>
        </p:spPr>
      </p:sp>
      <p:sp>
        <p:nvSpPr>
          <p:cNvPr id="5" name="Text 3"/>
          <p:cNvSpPr/>
          <p:nvPr/>
        </p:nvSpPr>
        <p:spPr>
          <a:xfrm>
            <a:off x="603504" y="996696"/>
            <a:ext cx="8229600" cy="201168"/>
          </a:xfrm>
          <a:prstGeom prst="rect">
            <a:avLst/>
          </a:prstGeom>
          <a:noFill/>
          <a:ln/>
        </p:spPr>
        <p:txBody>
          <a:bodyPr wrap="square" lIns="0" tIns="0" rIns="0" bIns="0" rtlCol="0" anchor="ctr">
            <a:normAutofit/>
          </a:bodyPr>
          <a:lstStyle/>
          <a:p>
            <a:pPr algn="l" indent="0" marL="0">
              <a:buNone/>
            </a:pPr>
            <a:r>
              <a:rPr lang="en-US" sz="1050" b="1" spc="160" kern="0" dirty="0">
                <a:solidFill>
                  <a:srgbClr val="397D82"/>
                </a:solidFill>
                <a:latin typeface="Aptos" pitchFamily="34" charset="0"/>
                <a:ea typeface="Aptos" pitchFamily="34" charset="-122"/>
                <a:cs typeface="Aptos" pitchFamily="34" charset="-120"/>
              </a:rPr>
              <a:t>PROBLEM DEFINITION</a:t>
            </a:r>
            <a:endParaRPr lang="en-US" sz="1050" dirty="0"/>
          </a:p>
        </p:txBody>
      </p:sp>
      <p:sp>
        <p:nvSpPr>
          <p:cNvPr id="6" name="Text 4"/>
          <p:cNvSpPr/>
          <p:nvPr/>
        </p:nvSpPr>
        <p:spPr>
          <a:xfrm>
            <a:off x="585216" y="1353312"/>
            <a:ext cx="10927080" cy="621792"/>
          </a:xfrm>
          <a:prstGeom prst="rect">
            <a:avLst/>
          </a:prstGeom>
          <a:noFill/>
          <a:ln/>
        </p:spPr>
        <p:txBody>
          <a:bodyPr wrap="square" lIns="0" tIns="0" rIns="0" bIns="0" rtlCol="0" anchor="ctr">
            <a:normAutofit/>
          </a:bodyPr>
          <a:lstStyle/>
          <a:p>
            <a:pPr algn="l" indent="0" marL="0">
              <a:buNone/>
            </a:pPr>
            <a:r>
              <a:rPr lang="en-US" sz="2950" b="1" dirty="0">
                <a:solidFill>
                  <a:srgbClr val="152A3A"/>
                </a:solidFill>
                <a:latin typeface="Aptos" pitchFamily="34" charset="0"/>
                <a:ea typeface="Aptos" pitchFamily="34" charset="-122"/>
                <a:cs typeface="Aptos" pitchFamily="34" charset="-120"/>
              </a:rPr>
              <a:t>Retrieve pedestrians from attributes</a:t>
            </a:r>
            <a:endParaRPr lang="en-US" sz="2950" dirty="0"/>
          </a:p>
        </p:txBody>
      </p:sp>
      <p:sp>
        <p:nvSpPr>
          <p:cNvPr id="7" name="Text 5"/>
          <p:cNvSpPr/>
          <p:nvPr/>
        </p:nvSpPr>
        <p:spPr>
          <a:xfrm>
            <a:off x="603504" y="1984248"/>
            <a:ext cx="10424160" cy="457200"/>
          </a:xfrm>
          <a:prstGeom prst="rect">
            <a:avLst/>
          </a:prstGeom>
          <a:noFill/>
          <a:ln/>
        </p:spPr>
        <p:txBody>
          <a:bodyPr wrap="square" lIns="0" tIns="0" rIns="0" bIns="0" rtlCol="0" anchor="ctr">
            <a:normAutofit/>
          </a:bodyPr>
          <a:lstStyle/>
          <a:p>
            <a:pPr algn="l" indent="0" marL="0">
              <a:buNone/>
            </a:pPr>
            <a:r>
              <a:rPr lang="en-US" sz="1440" dirty="0">
                <a:solidFill>
                  <a:srgbClr val="526675"/>
                </a:solidFill>
                <a:latin typeface="Aptos" pitchFamily="34" charset="0"/>
                <a:ea typeface="Aptos" pitchFamily="34" charset="-122"/>
                <a:cs typeface="Aptos" pitchFamily="34" charset="-120"/>
              </a:rPr>
              <a:t>A binary description is the query—not another photograph.</a:t>
            </a:r>
            <a:endParaRPr lang="en-US" sz="1440" dirty="0"/>
          </a:p>
        </p:txBody>
      </p:sp>
      <p:sp>
        <p:nvSpPr>
          <p:cNvPr id="8" name="Shape 6"/>
          <p:cNvSpPr/>
          <p:nvPr/>
        </p:nvSpPr>
        <p:spPr>
          <a:xfrm>
            <a:off x="566928" y="6510528"/>
            <a:ext cx="11045952" cy="0"/>
          </a:xfrm>
          <a:prstGeom prst="line">
            <a:avLst/>
          </a:prstGeom>
          <a:noFill/>
          <a:ln w="8890">
            <a:solidFill>
              <a:srgbClr val="DCE5E8"/>
            </a:solidFill>
            <a:prstDash val="solid"/>
          </a:ln>
        </p:spPr>
      </p:sp>
      <p:sp>
        <p:nvSpPr>
          <p:cNvPr id="9" name="Text 7"/>
          <p:cNvSpPr/>
          <p:nvPr/>
        </p:nvSpPr>
        <p:spPr>
          <a:xfrm>
            <a:off x="585216" y="6547104"/>
            <a:ext cx="9144000" cy="173736"/>
          </a:xfrm>
          <a:prstGeom prst="rect">
            <a:avLst/>
          </a:prstGeom>
          <a:noFill/>
          <a:ln/>
        </p:spPr>
        <p:txBody>
          <a:bodyPr wrap="square" lIns="0" tIns="0" rIns="0" bIns="0" rtlCol="0" anchor="ctr">
            <a:normAutofit/>
          </a:bodyPr>
          <a:lstStyle/>
          <a:p>
            <a:pPr algn="l" indent="0" marL="0">
              <a:buNone/>
            </a:pPr>
            <a:r>
              <a:rPr lang="en-US" sz="820" spc="50" kern="0" dirty="0">
                <a:solidFill>
                  <a:srgbClr val="768794"/>
                </a:solidFill>
                <a:latin typeface="Aptos" pitchFamily="34" charset="0"/>
                <a:ea typeface="Aptos" pitchFamily="34" charset="-122"/>
                <a:cs typeface="Aptos" pitchFamily="34" charset="-120"/>
              </a:rPr>
              <a:t>UPAR CHALLENGE 2027  ·  ATTRIBUTE-BASED PEDESTRIAN RETRIEVAL</a:t>
            </a:r>
            <a:endParaRPr lang="en-US" sz="820" dirty="0"/>
          </a:p>
        </p:txBody>
      </p:sp>
      <p:sp>
        <p:nvSpPr>
          <p:cNvPr id="10" name="Shape 8"/>
          <p:cNvSpPr/>
          <p:nvPr/>
        </p:nvSpPr>
        <p:spPr>
          <a:xfrm>
            <a:off x="640080" y="2761488"/>
            <a:ext cx="3337560" cy="2523744"/>
          </a:xfrm>
          <a:prstGeom prst="roundRect">
            <a:avLst>
              <a:gd name="adj" fmla="val 4710"/>
            </a:avLst>
          </a:prstGeom>
          <a:solidFill>
            <a:srgbClr val="F6F8F9"/>
          </a:solidFill>
          <a:ln w="8890">
            <a:solidFill>
              <a:srgbClr val="DCE5E8"/>
            </a:solidFill>
            <a:prstDash val="solid"/>
          </a:ln>
        </p:spPr>
      </p:sp>
      <p:sp>
        <p:nvSpPr>
          <p:cNvPr id="11" name="Text 9"/>
          <p:cNvSpPr/>
          <p:nvPr/>
        </p:nvSpPr>
        <p:spPr>
          <a:xfrm>
            <a:off x="850392" y="2935224"/>
            <a:ext cx="2916936" cy="365760"/>
          </a:xfrm>
          <a:prstGeom prst="rect">
            <a:avLst/>
          </a:prstGeom>
          <a:noFill/>
          <a:ln/>
        </p:spPr>
        <p:txBody>
          <a:bodyPr wrap="square" lIns="0" tIns="0" rIns="0" bIns="0" rtlCol="0" anchor="ctr">
            <a:normAutofit/>
          </a:bodyPr>
          <a:lstStyle/>
          <a:p>
            <a:pPr algn="l" indent="0" marL="0">
              <a:buNone/>
            </a:pPr>
            <a:r>
              <a:rPr lang="en-US" sz="1500" b="1" dirty="0">
                <a:solidFill>
                  <a:srgbClr val="152A3A"/>
                </a:solidFill>
                <a:latin typeface="Aptos" pitchFamily="34" charset="0"/>
                <a:ea typeface="Aptos" pitchFamily="34" charset="-122"/>
                <a:cs typeface="Aptos" pitchFamily="34" charset="-120"/>
              </a:rPr>
              <a:t>40 binary attributes</a:t>
            </a:r>
            <a:endParaRPr lang="en-US" sz="1500" dirty="0"/>
          </a:p>
        </p:txBody>
      </p:sp>
      <p:sp>
        <p:nvSpPr>
          <p:cNvPr id="12" name="Text 10"/>
          <p:cNvSpPr/>
          <p:nvPr/>
        </p:nvSpPr>
        <p:spPr>
          <a:xfrm>
            <a:off x="850392" y="3346704"/>
            <a:ext cx="2916936" cy="1773936"/>
          </a:xfrm>
          <a:prstGeom prst="rect">
            <a:avLst/>
          </a:prstGeom>
          <a:noFill/>
          <a:ln/>
        </p:spPr>
        <p:txBody>
          <a:bodyPr wrap="square" lIns="0" tIns="0" rIns="0" bIns="0" rtlCol="0" anchor="t">
            <a:normAutofit/>
          </a:bodyPr>
          <a:lstStyle/>
          <a:p>
            <a:pPr algn="l" indent="0" marL="0">
              <a:buNone/>
            </a:pPr>
            <a:r>
              <a:rPr lang="en-US" sz="1220" dirty="0">
                <a:solidFill>
                  <a:srgbClr val="526675"/>
                </a:solidFill>
                <a:latin typeface="Aptos" pitchFamily="34" charset="0"/>
                <a:ea typeface="Aptos" pitchFamily="34" charset="-122"/>
                <a:cs typeface="Aptos" pitchFamily="34" charset="-120"/>
              </a:rPr>
              <a:t>Age group, hair, clothing colors, garment types, accessories and more.</a:t>
            </a:r>
            <a:endParaRPr lang="en-US" sz="1220" dirty="0"/>
          </a:p>
        </p:txBody>
      </p:sp>
      <p:sp>
        <p:nvSpPr>
          <p:cNvPr id="13" name="Shape 11"/>
          <p:cNvSpPr/>
          <p:nvPr/>
        </p:nvSpPr>
        <p:spPr>
          <a:xfrm>
            <a:off x="859536" y="4233672"/>
            <a:ext cx="841248" cy="320040"/>
          </a:xfrm>
          <a:prstGeom prst="roundRect">
            <a:avLst>
              <a:gd name="adj" fmla="val 45714"/>
            </a:avLst>
          </a:prstGeom>
          <a:solidFill>
            <a:srgbClr val="EDF3F4"/>
          </a:solidFill>
          <a:ln w="12700">
            <a:solidFill>
              <a:srgbClr val="EDF3F4">
                <a:alpha val="0"/>
              </a:srgbClr>
            </a:solidFill>
            <a:prstDash val="solid"/>
          </a:ln>
        </p:spPr>
      </p:sp>
      <p:sp>
        <p:nvSpPr>
          <p:cNvPr id="14" name="Text 12"/>
          <p:cNvSpPr/>
          <p:nvPr/>
        </p:nvSpPr>
        <p:spPr>
          <a:xfrm>
            <a:off x="969264" y="4251960"/>
            <a:ext cx="621792" cy="274320"/>
          </a:xfrm>
          <a:prstGeom prst="rect">
            <a:avLst/>
          </a:prstGeom>
          <a:noFill/>
          <a:ln/>
        </p:spPr>
        <p:txBody>
          <a:bodyPr wrap="square" lIns="0" tIns="0" rIns="0" bIns="0" rtlCol="0" anchor="ctr">
            <a:normAutofit/>
          </a:bodyPr>
          <a:lstStyle/>
          <a:p>
            <a:pPr algn="ctr" indent="0" marL="0">
              <a:buNone/>
            </a:pPr>
            <a:r>
              <a:rPr lang="en-US" sz="1050" b="1" dirty="0">
                <a:solidFill>
                  <a:srgbClr val="275E66"/>
                </a:solidFill>
                <a:latin typeface="Aptos" pitchFamily="34" charset="0"/>
                <a:ea typeface="Aptos" pitchFamily="34" charset="-122"/>
                <a:cs typeface="Aptos" pitchFamily="34" charset="-120"/>
              </a:rPr>
              <a:t>BLACK TOP</a:t>
            </a:r>
            <a:endParaRPr lang="en-US" sz="1050" dirty="0"/>
          </a:p>
        </p:txBody>
      </p:sp>
      <p:sp>
        <p:nvSpPr>
          <p:cNvPr id="15" name="Shape 13"/>
          <p:cNvSpPr/>
          <p:nvPr/>
        </p:nvSpPr>
        <p:spPr>
          <a:xfrm>
            <a:off x="1792224" y="4233672"/>
            <a:ext cx="1060704" cy="320040"/>
          </a:xfrm>
          <a:prstGeom prst="roundRect">
            <a:avLst>
              <a:gd name="adj" fmla="val 45714"/>
            </a:avLst>
          </a:prstGeom>
          <a:solidFill>
            <a:srgbClr val="EDF3F4"/>
          </a:solidFill>
          <a:ln w="12700">
            <a:solidFill>
              <a:srgbClr val="EDF3F4">
                <a:alpha val="0"/>
              </a:srgbClr>
            </a:solidFill>
            <a:prstDash val="solid"/>
          </a:ln>
        </p:spPr>
      </p:sp>
      <p:sp>
        <p:nvSpPr>
          <p:cNvPr id="16" name="Text 14"/>
          <p:cNvSpPr/>
          <p:nvPr/>
        </p:nvSpPr>
        <p:spPr>
          <a:xfrm>
            <a:off x="1901952" y="4251960"/>
            <a:ext cx="841248" cy="274320"/>
          </a:xfrm>
          <a:prstGeom prst="rect">
            <a:avLst/>
          </a:prstGeom>
          <a:noFill/>
          <a:ln/>
        </p:spPr>
        <p:txBody>
          <a:bodyPr wrap="square" lIns="0" tIns="0" rIns="0" bIns="0" rtlCol="0" anchor="ctr">
            <a:normAutofit/>
          </a:bodyPr>
          <a:lstStyle/>
          <a:p>
            <a:pPr algn="ctr" indent="0" marL="0">
              <a:buNone/>
            </a:pPr>
            <a:r>
              <a:rPr lang="en-US" sz="1050" b="1" dirty="0">
                <a:solidFill>
                  <a:srgbClr val="275E66"/>
                </a:solidFill>
                <a:latin typeface="Aptos" pitchFamily="34" charset="0"/>
                <a:ea typeface="Aptos" pitchFamily="34" charset="-122"/>
                <a:cs typeface="Aptos" pitchFamily="34" charset="-120"/>
              </a:rPr>
              <a:t>BLUE LOWER</a:t>
            </a:r>
            <a:endParaRPr lang="en-US" sz="1050" dirty="0"/>
          </a:p>
        </p:txBody>
      </p:sp>
      <p:sp>
        <p:nvSpPr>
          <p:cNvPr id="17" name="Shape 15"/>
          <p:cNvSpPr/>
          <p:nvPr/>
        </p:nvSpPr>
        <p:spPr>
          <a:xfrm>
            <a:off x="2916936" y="4233672"/>
            <a:ext cx="914400" cy="320040"/>
          </a:xfrm>
          <a:prstGeom prst="roundRect">
            <a:avLst>
              <a:gd name="adj" fmla="val 45714"/>
            </a:avLst>
          </a:prstGeom>
          <a:solidFill>
            <a:srgbClr val="EDF3F4"/>
          </a:solidFill>
          <a:ln w="12700">
            <a:solidFill>
              <a:srgbClr val="EDF3F4">
                <a:alpha val="0"/>
              </a:srgbClr>
            </a:solidFill>
            <a:prstDash val="solid"/>
          </a:ln>
        </p:spPr>
      </p:sp>
      <p:sp>
        <p:nvSpPr>
          <p:cNvPr id="18" name="Text 16"/>
          <p:cNvSpPr/>
          <p:nvPr/>
        </p:nvSpPr>
        <p:spPr>
          <a:xfrm>
            <a:off x="3026664" y="4251960"/>
            <a:ext cx="694944" cy="274320"/>
          </a:xfrm>
          <a:prstGeom prst="rect">
            <a:avLst/>
          </a:prstGeom>
          <a:noFill/>
          <a:ln/>
        </p:spPr>
        <p:txBody>
          <a:bodyPr wrap="square" lIns="0" tIns="0" rIns="0" bIns="0" rtlCol="0" anchor="ctr">
            <a:normAutofit/>
          </a:bodyPr>
          <a:lstStyle/>
          <a:p>
            <a:pPr algn="ctr" indent="0" marL="0">
              <a:buNone/>
            </a:pPr>
            <a:r>
              <a:rPr lang="en-US" sz="1050" b="1" dirty="0">
                <a:solidFill>
                  <a:srgbClr val="275E66"/>
                </a:solidFill>
                <a:latin typeface="Aptos" pitchFamily="34" charset="0"/>
                <a:ea typeface="Aptos" pitchFamily="34" charset="-122"/>
                <a:cs typeface="Aptos" pitchFamily="34" charset="-120"/>
              </a:rPr>
              <a:t>BACKPACK</a:t>
            </a:r>
            <a:endParaRPr lang="en-US" sz="1050" dirty="0"/>
          </a:p>
        </p:txBody>
      </p:sp>
      <p:sp>
        <p:nvSpPr>
          <p:cNvPr id="19" name="Shape 17"/>
          <p:cNvSpPr/>
          <p:nvPr/>
        </p:nvSpPr>
        <p:spPr>
          <a:xfrm>
            <a:off x="4233672" y="3968496"/>
            <a:ext cx="1289304" cy="0"/>
          </a:xfrm>
          <a:prstGeom prst="line">
            <a:avLst/>
          </a:prstGeom>
          <a:noFill/>
          <a:ln w="20955">
            <a:solidFill>
              <a:srgbClr val="397D82"/>
            </a:solidFill>
            <a:prstDash val="solid"/>
            <a:headEnd type="none"/>
            <a:tailEnd type="triangle"/>
          </a:ln>
        </p:spPr>
      </p:sp>
      <p:sp>
        <p:nvSpPr>
          <p:cNvPr id="20" name="Shape 18"/>
          <p:cNvSpPr/>
          <p:nvPr/>
        </p:nvSpPr>
        <p:spPr>
          <a:xfrm>
            <a:off x="5815584" y="2761488"/>
            <a:ext cx="5449824" cy="2523744"/>
          </a:xfrm>
          <a:prstGeom prst="roundRect">
            <a:avLst>
              <a:gd name="adj" fmla="val 4710"/>
            </a:avLst>
          </a:prstGeom>
          <a:solidFill>
            <a:srgbClr val="FFFFFF"/>
          </a:solidFill>
          <a:ln w="8890">
            <a:solidFill>
              <a:srgbClr val="DCE5E8"/>
            </a:solidFill>
            <a:prstDash val="solid"/>
          </a:ln>
        </p:spPr>
      </p:sp>
      <p:sp>
        <p:nvSpPr>
          <p:cNvPr id="21" name="Text 19"/>
          <p:cNvSpPr/>
          <p:nvPr/>
        </p:nvSpPr>
        <p:spPr>
          <a:xfrm>
            <a:off x="6025896" y="2935224"/>
            <a:ext cx="5029200" cy="365760"/>
          </a:xfrm>
          <a:prstGeom prst="rect">
            <a:avLst/>
          </a:prstGeom>
          <a:noFill/>
          <a:ln/>
        </p:spPr>
        <p:txBody>
          <a:bodyPr wrap="square" lIns="0" tIns="0" rIns="0" bIns="0" rtlCol="0" anchor="ctr">
            <a:normAutofit/>
          </a:bodyPr>
          <a:lstStyle/>
          <a:p>
            <a:pPr algn="l" indent="0" marL="0">
              <a:buNone/>
            </a:pPr>
            <a:r>
              <a:rPr lang="en-US" sz="1500" b="1" dirty="0">
                <a:solidFill>
                  <a:srgbClr val="152A3A"/>
                </a:solidFill>
                <a:latin typeface="Aptos" pitchFamily="34" charset="0"/>
                <a:ea typeface="Aptos" pitchFamily="34" charset="-122"/>
                <a:cs typeface="Aptos" pitchFamily="34" charset="-120"/>
              </a:rPr>
              <a:t>Ranked pedestrian gallery</a:t>
            </a:r>
            <a:endParaRPr lang="en-US" sz="1500" dirty="0"/>
          </a:p>
        </p:txBody>
      </p:sp>
      <p:sp>
        <p:nvSpPr>
          <p:cNvPr id="22" name="Text 20"/>
          <p:cNvSpPr/>
          <p:nvPr/>
        </p:nvSpPr>
        <p:spPr>
          <a:xfrm>
            <a:off x="6025896" y="3346704"/>
            <a:ext cx="5029200" cy="1773936"/>
          </a:xfrm>
          <a:prstGeom prst="rect">
            <a:avLst/>
          </a:prstGeom>
          <a:noFill/>
          <a:ln/>
        </p:spPr>
        <p:txBody>
          <a:bodyPr wrap="square" lIns="0" tIns="0" rIns="0" bIns="0" rtlCol="0" anchor="t">
            <a:normAutofit/>
          </a:bodyPr>
          <a:lstStyle/>
          <a:p>
            <a:pPr algn="l" indent="0" marL="0">
              <a:buNone/>
            </a:pPr>
            <a:r>
              <a:rPr lang="en-US" sz="1220" dirty="0">
                <a:solidFill>
                  <a:srgbClr val="526675"/>
                </a:solidFill>
                <a:latin typeface="Aptos" pitchFamily="34" charset="0"/>
                <a:ea typeface="Aptos" pitchFamily="34" charset="-122"/>
                <a:cs typeface="Aptos" pitchFamily="34" charset="-120"/>
              </a:rPr>
              <a:t>The model calculates a distance for each gallery image. Smaller distance means a higher retrieval rank.</a:t>
            </a:r>
            <a:endParaRPr lang="en-US" sz="1220" dirty="0"/>
          </a:p>
        </p:txBody>
      </p:sp>
      <p:sp>
        <p:nvSpPr>
          <p:cNvPr id="23" name="Shape 21"/>
          <p:cNvSpPr/>
          <p:nvPr/>
        </p:nvSpPr>
        <p:spPr>
          <a:xfrm>
            <a:off x="6062472" y="4114800"/>
            <a:ext cx="1307592" cy="868680"/>
          </a:xfrm>
          <a:prstGeom prst="roundRect">
            <a:avLst>
              <a:gd name="adj" fmla="val 9474"/>
            </a:avLst>
          </a:prstGeom>
          <a:solidFill>
            <a:srgbClr val="E8F1F2"/>
          </a:solidFill>
          <a:ln w="8890">
            <a:solidFill>
              <a:srgbClr val="DCE5E8"/>
            </a:solidFill>
            <a:prstDash val="solid"/>
          </a:ln>
        </p:spPr>
      </p:sp>
      <p:sp>
        <p:nvSpPr>
          <p:cNvPr id="24" name="Shape 22"/>
          <p:cNvSpPr/>
          <p:nvPr/>
        </p:nvSpPr>
        <p:spPr>
          <a:xfrm>
            <a:off x="6663050" y="4334622"/>
            <a:ext cx="97292" cy="97292"/>
          </a:xfrm>
          <a:prstGeom prst="ellipse">
            <a:avLst/>
          </a:prstGeom>
          <a:solidFill>
            <a:srgbClr val="275E66"/>
          </a:solidFill>
          <a:ln w="12700">
            <a:solidFill>
              <a:srgbClr val="275E66"/>
            </a:solidFill>
            <a:prstDash val="solid"/>
          </a:ln>
        </p:spPr>
      </p:sp>
      <p:sp>
        <p:nvSpPr>
          <p:cNvPr id="25" name="Shape 23"/>
          <p:cNvSpPr/>
          <p:nvPr/>
        </p:nvSpPr>
        <p:spPr>
          <a:xfrm>
            <a:off x="6635252" y="4449288"/>
            <a:ext cx="152888" cy="201534"/>
          </a:xfrm>
          <a:prstGeom prst="roundRect">
            <a:avLst>
              <a:gd name="adj" fmla="val 23923"/>
            </a:avLst>
          </a:prstGeom>
          <a:solidFill>
            <a:srgbClr val="275E66"/>
          </a:solidFill>
          <a:ln w="12700">
            <a:solidFill>
              <a:srgbClr val="275E66"/>
            </a:solidFill>
            <a:prstDash val="solid"/>
          </a:ln>
        </p:spPr>
      </p:sp>
      <p:sp>
        <p:nvSpPr>
          <p:cNvPr id="26" name="Shape 24"/>
          <p:cNvSpPr/>
          <p:nvPr/>
        </p:nvSpPr>
        <p:spPr>
          <a:xfrm>
            <a:off x="6676949" y="4619549"/>
            <a:ext cx="-41697" cy="114666"/>
          </a:xfrm>
          <a:prstGeom prst="line">
            <a:avLst/>
          </a:prstGeom>
          <a:noFill/>
          <a:ln w="14478">
            <a:solidFill>
              <a:srgbClr val="275E66"/>
            </a:solidFill>
            <a:prstDash val="solid"/>
          </a:ln>
        </p:spPr>
      </p:sp>
      <p:sp>
        <p:nvSpPr>
          <p:cNvPr id="27" name="Shape 25"/>
          <p:cNvSpPr/>
          <p:nvPr/>
        </p:nvSpPr>
        <p:spPr>
          <a:xfrm>
            <a:off x="6746443" y="4619549"/>
            <a:ext cx="41697" cy="114666"/>
          </a:xfrm>
          <a:prstGeom prst="line">
            <a:avLst/>
          </a:prstGeom>
          <a:noFill/>
          <a:ln w="14478">
            <a:solidFill>
              <a:srgbClr val="275E66"/>
            </a:solidFill>
            <a:prstDash val="solid"/>
          </a:ln>
        </p:spPr>
      </p:sp>
      <p:sp>
        <p:nvSpPr>
          <p:cNvPr id="28" name="Text 26"/>
          <p:cNvSpPr/>
          <p:nvPr/>
        </p:nvSpPr>
        <p:spPr>
          <a:xfrm>
            <a:off x="6117336" y="5065776"/>
            <a:ext cx="1207008" cy="164592"/>
          </a:xfrm>
          <a:prstGeom prst="rect">
            <a:avLst/>
          </a:prstGeom>
          <a:noFill/>
          <a:ln/>
        </p:spPr>
        <p:txBody>
          <a:bodyPr wrap="square" lIns="0" tIns="0" rIns="0" bIns="0" rtlCol="0" anchor="ctr">
            <a:normAutofit/>
          </a:bodyPr>
          <a:lstStyle/>
          <a:p>
            <a:pPr algn="ctr" indent="0" marL="0">
              <a:buNone/>
            </a:pPr>
            <a:r>
              <a:rPr lang="en-US" sz="980" b="1" dirty="0">
                <a:solidFill>
                  <a:srgbClr val="526675"/>
                </a:solidFill>
                <a:latin typeface="Aptos" pitchFamily="34" charset="0"/>
                <a:ea typeface="Aptos" pitchFamily="34" charset="-122"/>
                <a:cs typeface="Aptos" pitchFamily="34" charset="-120"/>
              </a:rPr>
              <a:t>RANK 01</a:t>
            </a:r>
            <a:endParaRPr lang="en-US" sz="980" dirty="0"/>
          </a:p>
        </p:txBody>
      </p:sp>
      <p:sp>
        <p:nvSpPr>
          <p:cNvPr id="29" name="Shape 27"/>
          <p:cNvSpPr/>
          <p:nvPr/>
        </p:nvSpPr>
        <p:spPr>
          <a:xfrm>
            <a:off x="7607808" y="4114800"/>
            <a:ext cx="1307592" cy="868680"/>
          </a:xfrm>
          <a:prstGeom prst="roundRect">
            <a:avLst>
              <a:gd name="adj" fmla="val 9474"/>
            </a:avLst>
          </a:prstGeom>
          <a:solidFill>
            <a:srgbClr val="F6F8F9"/>
          </a:solidFill>
          <a:ln w="8890">
            <a:solidFill>
              <a:srgbClr val="DCE5E8"/>
            </a:solidFill>
            <a:prstDash val="solid"/>
          </a:ln>
        </p:spPr>
      </p:sp>
      <p:sp>
        <p:nvSpPr>
          <p:cNvPr id="30" name="Shape 28"/>
          <p:cNvSpPr/>
          <p:nvPr/>
        </p:nvSpPr>
        <p:spPr>
          <a:xfrm>
            <a:off x="8208386" y="4334622"/>
            <a:ext cx="97292" cy="97292"/>
          </a:xfrm>
          <a:prstGeom prst="ellipse">
            <a:avLst/>
          </a:prstGeom>
          <a:solidFill>
            <a:srgbClr val="6B808C"/>
          </a:solidFill>
          <a:ln w="12700">
            <a:solidFill>
              <a:srgbClr val="6B808C"/>
            </a:solidFill>
            <a:prstDash val="solid"/>
          </a:ln>
        </p:spPr>
      </p:sp>
      <p:sp>
        <p:nvSpPr>
          <p:cNvPr id="31" name="Shape 29"/>
          <p:cNvSpPr/>
          <p:nvPr/>
        </p:nvSpPr>
        <p:spPr>
          <a:xfrm>
            <a:off x="8180588" y="4449288"/>
            <a:ext cx="152888" cy="201534"/>
          </a:xfrm>
          <a:prstGeom prst="roundRect">
            <a:avLst>
              <a:gd name="adj" fmla="val 23923"/>
            </a:avLst>
          </a:prstGeom>
          <a:solidFill>
            <a:srgbClr val="6B808C"/>
          </a:solidFill>
          <a:ln w="12700">
            <a:solidFill>
              <a:srgbClr val="6B808C"/>
            </a:solidFill>
            <a:prstDash val="solid"/>
          </a:ln>
        </p:spPr>
      </p:sp>
      <p:sp>
        <p:nvSpPr>
          <p:cNvPr id="32" name="Shape 30"/>
          <p:cNvSpPr/>
          <p:nvPr/>
        </p:nvSpPr>
        <p:spPr>
          <a:xfrm>
            <a:off x="8222285" y="4619549"/>
            <a:ext cx="-41697" cy="114666"/>
          </a:xfrm>
          <a:prstGeom prst="line">
            <a:avLst/>
          </a:prstGeom>
          <a:noFill/>
          <a:ln w="14478">
            <a:solidFill>
              <a:srgbClr val="6B808C"/>
            </a:solidFill>
            <a:prstDash val="solid"/>
          </a:ln>
        </p:spPr>
      </p:sp>
      <p:sp>
        <p:nvSpPr>
          <p:cNvPr id="33" name="Shape 31"/>
          <p:cNvSpPr/>
          <p:nvPr/>
        </p:nvSpPr>
        <p:spPr>
          <a:xfrm>
            <a:off x="8291779" y="4619549"/>
            <a:ext cx="41697" cy="114666"/>
          </a:xfrm>
          <a:prstGeom prst="line">
            <a:avLst/>
          </a:prstGeom>
          <a:noFill/>
          <a:ln w="14478">
            <a:solidFill>
              <a:srgbClr val="6B808C"/>
            </a:solidFill>
            <a:prstDash val="solid"/>
          </a:ln>
        </p:spPr>
      </p:sp>
      <p:sp>
        <p:nvSpPr>
          <p:cNvPr id="34" name="Text 32"/>
          <p:cNvSpPr/>
          <p:nvPr/>
        </p:nvSpPr>
        <p:spPr>
          <a:xfrm>
            <a:off x="7662672" y="5065776"/>
            <a:ext cx="1207008" cy="164592"/>
          </a:xfrm>
          <a:prstGeom prst="rect">
            <a:avLst/>
          </a:prstGeom>
          <a:noFill/>
          <a:ln/>
        </p:spPr>
        <p:txBody>
          <a:bodyPr wrap="square" lIns="0" tIns="0" rIns="0" bIns="0" rtlCol="0" anchor="ctr">
            <a:normAutofit/>
          </a:bodyPr>
          <a:lstStyle/>
          <a:p>
            <a:pPr algn="ctr" indent="0" marL="0">
              <a:buNone/>
            </a:pPr>
            <a:r>
              <a:rPr lang="en-US" sz="980" b="1" dirty="0">
                <a:solidFill>
                  <a:srgbClr val="526675"/>
                </a:solidFill>
                <a:latin typeface="Aptos" pitchFamily="34" charset="0"/>
                <a:ea typeface="Aptos" pitchFamily="34" charset="-122"/>
                <a:cs typeface="Aptos" pitchFamily="34" charset="-120"/>
              </a:rPr>
              <a:t>RANK 02</a:t>
            </a:r>
            <a:endParaRPr lang="en-US" sz="980" dirty="0"/>
          </a:p>
        </p:txBody>
      </p:sp>
      <p:sp>
        <p:nvSpPr>
          <p:cNvPr id="35" name="Shape 33"/>
          <p:cNvSpPr/>
          <p:nvPr/>
        </p:nvSpPr>
        <p:spPr>
          <a:xfrm>
            <a:off x="9153144" y="4114800"/>
            <a:ext cx="1307592" cy="868680"/>
          </a:xfrm>
          <a:prstGeom prst="roundRect">
            <a:avLst>
              <a:gd name="adj" fmla="val 9474"/>
            </a:avLst>
          </a:prstGeom>
          <a:solidFill>
            <a:srgbClr val="F6F8F9"/>
          </a:solidFill>
          <a:ln w="8890">
            <a:solidFill>
              <a:srgbClr val="DCE5E8"/>
            </a:solidFill>
            <a:prstDash val="solid"/>
          </a:ln>
        </p:spPr>
      </p:sp>
      <p:sp>
        <p:nvSpPr>
          <p:cNvPr id="36" name="Shape 34"/>
          <p:cNvSpPr/>
          <p:nvPr/>
        </p:nvSpPr>
        <p:spPr>
          <a:xfrm>
            <a:off x="9753722" y="4334622"/>
            <a:ext cx="97292" cy="97292"/>
          </a:xfrm>
          <a:prstGeom prst="ellipse">
            <a:avLst/>
          </a:prstGeom>
          <a:solidFill>
            <a:srgbClr val="6B808C"/>
          </a:solidFill>
          <a:ln w="12700">
            <a:solidFill>
              <a:srgbClr val="6B808C"/>
            </a:solidFill>
            <a:prstDash val="solid"/>
          </a:ln>
        </p:spPr>
      </p:sp>
      <p:sp>
        <p:nvSpPr>
          <p:cNvPr id="37" name="Shape 35"/>
          <p:cNvSpPr/>
          <p:nvPr/>
        </p:nvSpPr>
        <p:spPr>
          <a:xfrm>
            <a:off x="9725924" y="4449288"/>
            <a:ext cx="152888" cy="201534"/>
          </a:xfrm>
          <a:prstGeom prst="roundRect">
            <a:avLst>
              <a:gd name="adj" fmla="val 23923"/>
            </a:avLst>
          </a:prstGeom>
          <a:solidFill>
            <a:srgbClr val="6B808C"/>
          </a:solidFill>
          <a:ln w="12700">
            <a:solidFill>
              <a:srgbClr val="6B808C"/>
            </a:solidFill>
            <a:prstDash val="solid"/>
          </a:ln>
        </p:spPr>
      </p:sp>
      <p:sp>
        <p:nvSpPr>
          <p:cNvPr id="38" name="Shape 36"/>
          <p:cNvSpPr/>
          <p:nvPr/>
        </p:nvSpPr>
        <p:spPr>
          <a:xfrm>
            <a:off x="9767621" y="4619549"/>
            <a:ext cx="-41697" cy="114666"/>
          </a:xfrm>
          <a:prstGeom prst="line">
            <a:avLst/>
          </a:prstGeom>
          <a:noFill/>
          <a:ln w="14478">
            <a:solidFill>
              <a:srgbClr val="6B808C"/>
            </a:solidFill>
            <a:prstDash val="solid"/>
          </a:ln>
        </p:spPr>
      </p:sp>
      <p:sp>
        <p:nvSpPr>
          <p:cNvPr id="39" name="Shape 37"/>
          <p:cNvSpPr/>
          <p:nvPr/>
        </p:nvSpPr>
        <p:spPr>
          <a:xfrm>
            <a:off x="9837115" y="4619549"/>
            <a:ext cx="41697" cy="114666"/>
          </a:xfrm>
          <a:prstGeom prst="line">
            <a:avLst/>
          </a:prstGeom>
          <a:noFill/>
          <a:ln w="14478">
            <a:solidFill>
              <a:srgbClr val="6B808C"/>
            </a:solidFill>
            <a:prstDash val="solid"/>
          </a:ln>
        </p:spPr>
      </p:sp>
      <p:sp>
        <p:nvSpPr>
          <p:cNvPr id="40" name="Text 38"/>
          <p:cNvSpPr/>
          <p:nvPr/>
        </p:nvSpPr>
        <p:spPr>
          <a:xfrm>
            <a:off x="9208008" y="5065776"/>
            <a:ext cx="1207008" cy="164592"/>
          </a:xfrm>
          <a:prstGeom prst="rect">
            <a:avLst/>
          </a:prstGeom>
          <a:noFill/>
          <a:ln/>
        </p:spPr>
        <p:txBody>
          <a:bodyPr wrap="square" lIns="0" tIns="0" rIns="0" bIns="0" rtlCol="0" anchor="ctr">
            <a:normAutofit/>
          </a:bodyPr>
          <a:lstStyle/>
          <a:p>
            <a:pPr algn="ctr" indent="0" marL="0">
              <a:buNone/>
            </a:pPr>
            <a:r>
              <a:rPr lang="en-US" sz="980" b="1" dirty="0">
                <a:solidFill>
                  <a:srgbClr val="526675"/>
                </a:solidFill>
                <a:latin typeface="Aptos" pitchFamily="34" charset="0"/>
                <a:ea typeface="Aptos" pitchFamily="34" charset="-122"/>
                <a:cs typeface="Aptos" pitchFamily="34" charset="-120"/>
              </a:rPr>
              <a:t>RANK 03</a:t>
            </a:r>
            <a:endParaRPr lang="en-US" sz="980" dirty="0"/>
          </a:p>
        </p:txBody>
      </p:sp>
      <p:sp>
        <p:nvSpPr>
          <p:cNvPr id="41" name="Text 39"/>
          <p:cNvSpPr/>
          <p:nvPr/>
        </p:nvSpPr>
        <p:spPr>
          <a:xfrm>
            <a:off x="6080760" y="5742432"/>
            <a:ext cx="5303520" cy="219456"/>
          </a:xfrm>
          <a:prstGeom prst="rect">
            <a:avLst/>
          </a:prstGeom>
          <a:noFill/>
          <a:ln/>
        </p:spPr>
        <p:txBody>
          <a:bodyPr wrap="square" lIns="0" tIns="0" rIns="0" bIns="0" rtlCol="0" anchor="ctr">
            <a:normAutofit/>
          </a:bodyPr>
          <a:lstStyle/>
          <a:p>
            <a:pPr algn="l" indent="0" marL="0">
              <a:buNone/>
            </a:pPr>
            <a:r>
              <a:rPr lang="en-US" sz="1010" i="1" dirty="0">
                <a:solidFill>
                  <a:srgbClr val="768794"/>
                </a:solidFill>
                <a:latin typeface="Aptos" pitchFamily="34" charset="0"/>
                <a:ea typeface="Aptos" pitchFamily="34" charset="-122"/>
                <a:cs typeface="Aptos" pitchFamily="34" charset="-120"/>
              </a:rPr>
              <a:t>Illustrative flow · not a screenshot of model predictions</a:t>
            </a:r>
            <a:endParaRPr lang="en-US" sz="101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2743200" cy="228600"/>
          </a:xfrm>
          <a:prstGeom prst="rect">
            <a:avLst/>
          </a:prstGeom>
          <a:noFill/>
          <a:ln/>
        </p:spPr>
        <p:txBody>
          <a:bodyPr wrap="square" lIns="0" tIns="0" rIns="0" bIns="0" rtlCol="0" anchor="ctr">
            <a:normAutofit/>
          </a:bodyPr>
          <a:lstStyle/>
          <a:p>
            <a:pPr algn="l" indent="0" marL="0">
              <a:buNone/>
            </a:pPr>
            <a:r>
              <a:rPr lang="en-US" sz="1000" b="1" spc="135" kern="0" dirty="0">
                <a:solidFill>
                  <a:srgbClr val="768794"/>
                </a:solidFill>
                <a:latin typeface="Aptos" pitchFamily="34" charset="0"/>
                <a:ea typeface="Aptos" pitchFamily="34" charset="-122"/>
                <a:cs typeface="Aptos" pitchFamily="34" charset="-120"/>
              </a:rPr>
              <a:t>UPAR   /   TRACK 02</a:t>
            </a:r>
            <a:endParaRPr lang="en-US" sz="1000" dirty="0"/>
          </a:p>
        </p:txBody>
      </p:sp>
      <p:sp>
        <p:nvSpPr>
          <p:cNvPr id="3" name="Text 1"/>
          <p:cNvSpPr/>
          <p:nvPr/>
        </p:nvSpPr>
        <p:spPr>
          <a:xfrm>
            <a:off x="11036808" y="310896"/>
            <a:ext cx="566928" cy="219456"/>
          </a:xfrm>
          <a:prstGeom prst="rect">
            <a:avLst/>
          </a:prstGeom>
          <a:noFill/>
          <a:ln/>
        </p:spPr>
        <p:txBody>
          <a:bodyPr wrap="square" lIns="0" tIns="0" rIns="0" bIns="0" rtlCol="0" anchor="ctr">
            <a:normAutofit/>
          </a:bodyPr>
          <a:lstStyle/>
          <a:p>
            <a:pPr algn="r" indent="0" marL="0">
              <a:buNone/>
            </a:pPr>
            <a:r>
              <a:rPr lang="en-US" sz="1020" b="1" dirty="0">
                <a:solidFill>
                  <a:srgbClr val="768794"/>
                </a:solidFill>
                <a:latin typeface="Aptos" pitchFamily="34" charset="0"/>
                <a:ea typeface="Aptos" pitchFamily="34" charset="-122"/>
                <a:cs typeface="Aptos" pitchFamily="34" charset="-120"/>
              </a:rPr>
              <a:t>03</a:t>
            </a:r>
            <a:endParaRPr lang="en-US" sz="1020" dirty="0"/>
          </a:p>
        </p:txBody>
      </p:sp>
      <p:sp>
        <p:nvSpPr>
          <p:cNvPr id="4" name="Shape 2"/>
          <p:cNvSpPr/>
          <p:nvPr/>
        </p:nvSpPr>
        <p:spPr>
          <a:xfrm>
            <a:off x="566928" y="731520"/>
            <a:ext cx="11045952" cy="0"/>
          </a:xfrm>
          <a:prstGeom prst="line">
            <a:avLst/>
          </a:prstGeom>
          <a:noFill/>
          <a:ln w="10160">
            <a:solidFill>
              <a:srgbClr val="DCE5E8"/>
            </a:solidFill>
            <a:prstDash val="solid"/>
          </a:ln>
        </p:spPr>
      </p:sp>
      <p:sp>
        <p:nvSpPr>
          <p:cNvPr id="5" name="Text 3"/>
          <p:cNvSpPr/>
          <p:nvPr/>
        </p:nvSpPr>
        <p:spPr>
          <a:xfrm>
            <a:off x="603504" y="996696"/>
            <a:ext cx="8229600" cy="201168"/>
          </a:xfrm>
          <a:prstGeom prst="rect">
            <a:avLst/>
          </a:prstGeom>
          <a:noFill/>
          <a:ln/>
        </p:spPr>
        <p:txBody>
          <a:bodyPr wrap="square" lIns="0" tIns="0" rIns="0" bIns="0" rtlCol="0" anchor="ctr">
            <a:normAutofit/>
          </a:bodyPr>
          <a:lstStyle/>
          <a:p>
            <a:pPr algn="l" indent="0" marL="0">
              <a:buNone/>
            </a:pPr>
            <a:r>
              <a:rPr lang="en-US" sz="1050" b="1" spc="160" kern="0" dirty="0">
                <a:solidFill>
                  <a:srgbClr val="397D82"/>
                </a:solidFill>
                <a:latin typeface="Aptos" pitchFamily="34" charset="0"/>
                <a:ea typeface="Aptos" pitchFamily="34" charset="-122"/>
                <a:cs typeface="Aptos" pitchFamily="34" charset="-120"/>
              </a:rPr>
              <a:t>RESEARCH SETTING</a:t>
            </a:r>
            <a:endParaRPr lang="en-US" sz="1050" dirty="0"/>
          </a:p>
        </p:txBody>
      </p:sp>
      <p:sp>
        <p:nvSpPr>
          <p:cNvPr id="6" name="Text 4"/>
          <p:cNvSpPr/>
          <p:nvPr/>
        </p:nvSpPr>
        <p:spPr>
          <a:xfrm>
            <a:off x="585216" y="1353312"/>
            <a:ext cx="10927080" cy="621792"/>
          </a:xfrm>
          <a:prstGeom prst="rect">
            <a:avLst/>
          </a:prstGeom>
          <a:noFill/>
          <a:ln/>
        </p:spPr>
        <p:txBody>
          <a:bodyPr wrap="square" lIns="0" tIns="0" rIns="0" bIns="0" rtlCol="0" anchor="ctr">
            <a:normAutofit/>
          </a:bodyPr>
          <a:lstStyle/>
          <a:p>
            <a:pPr algn="l" indent="0" marL="0">
              <a:buNone/>
            </a:pPr>
            <a:r>
              <a:rPr lang="en-US" sz="2950" b="1" dirty="0">
                <a:solidFill>
                  <a:srgbClr val="152A3A"/>
                </a:solidFill>
                <a:latin typeface="Aptos" pitchFamily="34" charset="0"/>
                <a:ea typeface="Aptos" pitchFamily="34" charset="-122"/>
                <a:cs typeface="Aptos" pitchFamily="34" charset="-120"/>
              </a:rPr>
              <a:t>Data at a glance</a:t>
            </a:r>
            <a:endParaRPr lang="en-US" sz="2950" dirty="0"/>
          </a:p>
        </p:txBody>
      </p:sp>
      <p:sp>
        <p:nvSpPr>
          <p:cNvPr id="7" name="Text 5"/>
          <p:cNvSpPr/>
          <p:nvPr/>
        </p:nvSpPr>
        <p:spPr>
          <a:xfrm>
            <a:off x="603504" y="1984248"/>
            <a:ext cx="10424160" cy="457200"/>
          </a:xfrm>
          <a:prstGeom prst="rect">
            <a:avLst/>
          </a:prstGeom>
          <a:noFill/>
          <a:ln/>
        </p:spPr>
        <p:txBody>
          <a:bodyPr wrap="square" lIns="0" tIns="0" rIns="0" bIns="0" rtlCol="0" anchor="ctr">
            <a:normAutofit/>
          </a:bodyPr>
          <a:lstStyle/>
          <a:p>
            <a:pPr algn="l" indent="0" marL="0">
              <a:buNone/>
            </a:pPr>
            <a:r>
              <a:rPr lang="en-US" sz="1440" dirty="0">
                <a:solidFill>
                  <a:srgbClr val="526675"/>
                </a:solidFill>
                <a:latin typeface="Aptos" pitchFamily="34" charset="0"/>
                <a:ea typeface="Aptos" pitchFamily="34" charset="-122"/>
                <a:cs typeface="Aptos" pitchFamily="34" charset="-120"/>
              </a:rPr>
              <a:t>Unified attributes across three pedestrian-image datasets.</a:t>
            </a:r>
            <a:endParaRPr lang="en-US" sz="1440" dirty="0"/>
          </a:p>
        </p:txBody>
      </p:sp>
      <p:sp>
        <p:nvSpPr>
          <p:cNvPr id="8" name="Shape 6"/>
          <p:cNvSpPr/>
          <p:nvPr/>
        </p:nvSpPr>
        <p:spPr>
          <a:xfrm>
            <a:off x="566928" y="6510528"/>
            <a:ext cx="11045952" cy="0"/>
          </a:xfrm>
          <a:prstGeom prst="line">
            <a:avLst/>
          </a:prstGeom>
          <a:noFill/>
          <a:ln w="8890">
            <a:solidFill>
              <a:srgbClr val="DCE5E8"/>
            </a:solidFill>
            <a:prstDash val="solid"/>
          </a:ln>
        </p:spPr>
      </p:sp>
      <p:sp>
        <p:nvSpPr>
          <p:cNvPr id="9" name="Text 7"/>
          <p:cNvSpPr/>
          <p:nvPr/>
        </p:nvSpPr>
        <p:spPr>
          <a:xfrm>
            <a:off x="585216" y="6547104"/>
            <a:ext cx="9144000" cy="173736"/>
          </a:xfrm>
          <a:prstGeom prst="rect">
            <a:avLst/>
          </a:prstGeom>
          <a:noFill/>
          <a:ln/>
        </p:spPr>
        <p:txBody>
          <a:bodyPr wrap="square" lIns="0" tIns="0" rIns="0" bIns="0" rtlCol="0" anchor="ctr">
            <a:normAutofit/>
          </a:bodyPr>
          <a:lstStyle/>
          <a:p>
            <a:pPr algn="l" indent="0" marL="0">
              <a:buNone/>
            </a:pPr>
            <a:r>
              <a:rPr lang="en-US" sz="820" spc="50" kern="0" dirty="0">
                <a:solidFill>
                  <a:srgbClr val="768794"/>
                </a:solidFill>
                <a:latin typeface="Aptos" pitchFamily="34" charset="0"/>
                <a:ea typeface="Aptos" pitchFamily="34" charset="-122"/>
                <a:cs typeface="Aptos" pitchFamily="34" charset="-120"/>
              </a:rPr>
              <a:t>UPAR CHALLENGE 2027  ·  ATTRIBUTE-BASED PEDESTRIAN RETRIEVAL</a:t>
            </a:r>
            <a:endParaRPr lang="en-US" sz="820" dirty="0"/>
          </a:p>
        </p:txBody>
      </p:sp>
      <p:sp>
        <p:nvSpPr>
          <p:cNvPr id="10" name="Shape 8"/>
          <p:cNvSpPr/>
          <p:nvPr/>
        </p:nvSpPr>
        <p:spPr>
          <a:xfrm>
            <a:off x="640080" y="2788920"/>
            <a:ext cx="3328416" cy="1618488"/>
          </a:xfrm>
          <a:prstGeom prst="roundRect">
            <a:avLst>
              <a:gd name="adj" fmla="val 5650"/>
            </a:avLst>
          </a:prstGeom>
          <a:solidFill>
            <a:srgbClr val="F6F8F9"/>
          </a:solidFill>
          <a:ln w="12700">
            <a:solidFill>
              <a:srgbClr val="F6F8F9">
                <a:alpha val="0"/>
              </a:srgbClr>
            </a:solidFill>
            <a:prstDash val="solid"/>
          </a:ln>
        </p:spPr>
      </p:sp>
      <p:sp>
        <p:nvSpPr>
          <p:cNvPr id="11" name="Text 9"/>
          <p:cNvSpPr/>
          <p:nvPr/>
        </p:nvSpPr>
        <p:spPr>
          <a:xfrm>
            <a:off x="868680" y="2990088"/>
            <a:ext cx="2743200" cy="594360"/>
          </a:xfrm>
          <a:prstGeom prst="rect">
            <a:avLst/>
          </a:prstGeom>
          <a:noFill/>
          <a:ln/>
        </p:spPr>
        <p:txBody>
          <a:bodyPr wrap="square" lIns="0" tIns="0" rIns="0" bIns="0" rtlCol="0" anchor="ctr">
            <a:normAutofit/>
          </a:bodyPr>
          <a:lstStyle/>
          <a:p>
            <a:pPr algn="l" indent="0" marL="0">
              <a:buNone/>
            </a:pPr>
            <a:r>
              <a:rPr lang="en-US" sz="3400" b="1" dirty="0">
                <a:solidFill>
                  <a:srgbClr val="152A3A"/>
                </a:solidFill>
                <a:latin typeface="Aptos" pitchFamily="34" charset="0"/>
                <a:ea typeface="Aptos" pitchFamily="34" charset="-122"/>
                <a:cs typeface="Aptos" pitchFamily="34" charset="-120"/>
              </a:rPr>
              <a:t>97,669</a:t>
            </a:r>
            <a:endParaRPr lang="en-US" sz="3400" dirty="0"/>
          </a:p>
        </p:txBody>
      </p:sp>
      <p:sp>
        <p:nvSpPr>
          <p:cNvPr id="12" name="Text 10"/>
          <p:cNvSpPr/>
          <p:nvPr/>
        </p:nvSpPr>
        <p:spPr>
          <a:xfrm>
            <a:off x="868680" y="3666744"/>
            <a:ext cx="2788920" cy="274320"/>
          </a:xfrm>
          <a:prstGeom prst="rect">
            <a:avLst/>
          </a:prstGeom>
          <a:noFill/>
          <a:ln/>
        </p:spPr>
        <p:txBody>
          <a:bodyPr wrap="square" lIns="0" tIns="0" rIns="0" bIns="0" rtlCol="0" anchor="ctr">
            <a:normAutofit/>
          </a:bodyPr>
          <a:lstStyle/>
          <a:p>
            <a:pPr algn="l" indent="0" marL="0">
              <a:buNone/>
            </a:pPr>
            <a:r>
              <a:rPr lang="en-US" sz="1320" b="1" dirty="0">
                <a:solidFill>
                  <a:srgbClr val="526675"/>
                </a:solidFill>
                <a:latin typeface="Aptos" pitchFamily="34" charset="0"/>
                <a:ea typeface="Aptos" pitchFamily="34" charset="-122"/>
                <a:cs typeface="Aptos" pitchFamily="34" charset="-120"/>
              </a:rPr>
              <a:t>Training images</a:t>
            </a:r>
            <a:endParaRPr lang="en-US" sz="1320" dirty="0"/>
          </a:p>
        </p:txBody>
      </p:sp>
      <p:sp>
        <p:nvSpPr>
          <p:cNvPr id="13" name="Text 11"/>
          <p:cNvSpPr/>
          <p:nvPr/>
        </p:nvSpPr>
        <p:spPr>
          <a:xfrm>
            <a:off x="868680" y="4005072"/>
            <a:ext cx="2788920" cy="182880"/>
          </a:xfrm>
          <a:prstGeom prst="rect">
            <a:avLst/>
          </a:prstGeom>
          <a:noFill/>
          <a:ln/>
        </p:spPr>
        <p:txBody>
          <a:bodyPr wrap="square" lIns="0" tIns="0" rIns="0" bIns="0" rtlCol="0" anchor="ctr">
            <a:normAutofit/>
          </a:bodyPr>
          <a:lstStyle/>
          <a:p>
            <a:pPr algn="l" indent="0" marL="0">
              <a:buNone/>
            </a:pPr>
            <a:r>
              <a:rPr lang="en-US" sz="1040" dirty="0">
                <a:solidFill>
                  <a:srgbClr val="768794"/>
                </a:solidFill>
                <a:latin typeface="Aptos" pitchFamily="34" charset="0"/>
                <a:ea typeface="Aptos" pitchFamily="34" charset="-122"/>
                <a:cs typeface="Aptos" pitchFamily="34" charset="-120"/>
              </a:rPr>
              <a:t>7,204 training attribute queries</a:t>
            </a:r>
            <a:endParaRPr lang="en-US" sz="1040" dirty="0"/>
          </a:p>
        </p:txBody>
      </p:sp>
      <p:sp>
        <p:nvSpPr>
          <p:cNvPr id="14" name="Shape 12"/>
          <p:cNvSpPr/>
          <p:nvPr/>
        </p:nvSpPr>
        <p:spPr>
          <a:xfrm>
            <a:off x="4434840" y="2788920"/>
            <a:ext cx="3328416" cy="1618488"/>
          </a:xfrm>
          <a:prstGeom prst="roundRect">
            <a:avLst>
              <a:gd name="adj" fmla="val 5650"/>
            </a:avLst>
          </a:prstGeom>
          <a:solidFill>
            <a:srgbClr val="F6F8F9"/>
          </a:solidFill>
          <a:ln w="12700">
            <a:solidFill>
              <a:srgbClr val="F6F8F9">
                <a:alpha val="0"/>
              </a:srgbClr>
            </a:solidFill>
            <a:prstDash val="solid"/>
          </a:ln>
        </p:spPr>
      </p:sp>
      <p:sp>
        <p:nvSpPr>
          <p:cNvPr id="15" name="Text 13"/>
          <p:cNvSpPr/>
          <p:nvPr/>
        </p:nvSpPr>
        <p:spPr>
          <a:xfrm>
            <a:off x="4663440" y="2990088"/>
            <a:ext cx="2743200" cy="594360"/>
          </a:xfrm>
          <a:prstGeom prst="rect">
            <a:avLst/>
          </a:prstGeom>
          <a:noFill/>
          <a:ln/>
        </p:spPr>
        <p:txBody>
          <a:bodyPr wrap="square" lIns="0" tIns="0" rIns="0" bIns="0" rtlCol="0" anchor="ctr">
            <a:normAutofit/>
          </a:bodyPr>
          <a:lstStyle/>
          <a:p>
            <a:pPr algn="l" indent="0" marL="0">
              <a:buNone/>
            </a:pPr>
            <a:r>
              <a:rPr lang="en-US" sz="3400" b="1" dirty="0">
                <a:solidFill>
                  <a:srgbClr val="152A3A"/>
                </a:solidFill>
                <a:latin typeface="Aptos" pitchFamily="34" charset="0"/>
                <a:ea typeface="Aptos" pitchFamily="34" charset="-122"/>
                <a:cs typeface="Aptos" pitchFamily="34" charset="-120"/>
              </a:rPr>
              <a:t>33,407</a:t>
            </a:r>
            <a:endParaRPr lang="en-US" sz="3400" dirty="0"/>
          </a:p>
        </p:txBody>
      </p:sp>
      <p:sp>
        <p:nvSpPr>
          <p:cNvPr id="16" name="Text 14"/>
          <p:cNvSpPr/>
          <p:nvPr/>
        </p:nvSpPr>
        <p:spPr>
          <a:xfrm>
            <a:off x="4663440" y="3666744"/>
            <a:ext cx="2788920" cy="274320"/>
          </a:xfrm>
          <a:prstGeom prst="rect">
            <a:avLst/>
          </a:prstGeom>
          <a:noFill/>
          <a:ln/>
        </p:spPr>
        <p:txBody>
          <a:bodyPr wrap="square" lIns="0" tIns="0" rIns="0" bIns="0" rtlCol="0" anchor="ctr">
            <a:normAutofit/>
          </a:bodyPr>
          <a:lstStyle/>
          <a:p>
            <a:pPr algn="l" indent="0" marL="0">
              <a:buNone/>
            </a:pPr>
            <a:r>
              <a:rPr lang="en-US" sz="1320" b="1" dirty="0">
                <a:solidFill>
                  <a:srgbClr val="526675"/>
                </a:solidFill>
                <a:latin typeface="Aptos" pitchFamily="34" charset="0"/>
                <a:ea typeface="Aptos" pitchFamily="34" charset="-122"/>
                <a:cs typeface="Aptos" pitchFamily="34" charset="-120"/>
              </a:rPr>
              <a:t>Validation images</a:t>
            </a:r>
            <a:endParaRPr lang="en-US" sz="1320" dirty="0"/>
          </a:p>
        </p:txBody>
      </p:sp>
      <p:sp>
        <p:nvSpPr>
          <p:cNvPr id="17" name="Text 15"/>
          <p:cNvSpPr/>
          <p:nvPr/>
        </p:nvSpPr>
        <p:spPr>
          <a:xfrm>
            <a:off x="4663440" y="4005072"/>
            <a:ext cx="2788920" cy="182880"/>
          </a:xfrm>
          <a:prstGeom prst="rect">
            <a:avLst/>
          </a:prstGeom>
          <a:noFill/>
          <a:ln/>
        </p:spPr>
        <p:txBody>
          <a:bodyPr wrap="square" lIns="0" tIns="0" rIns="0" bIns="0" rtlCol="0" anchor="ctr">
            <a:normAutofit/>
          </a:bodyPr>
          <a:lstStyle/>
          <a:p>
            <a:pPr algn="l" indent="0" marL="0">
              <a:buNone/>
            </a:pPr>
            <a:r>
              <a:rPr lang="en-US" sz="1040" dirty="0">
                <a:solidFill>
                  <a:srgbClr val="768794"/>
                </a:solidFill>
                <a:latin typeface="Aptos" pitchFamily="34" charset="0"/>
                <a:ea typeface="Aptos" pitchFamily="34" charset="-122"/>
                <a:cs typeface="Aptos" pitchFamily="34" charset="-120"/>
              </a:rPr>
              <a:t>Every query ranks this gallery</a:t>
            </a:r>
            <a:endParaRPr lang="en-US" sz="1040" dirty="0"/>
          </a:p>
        </p:txBody>
      </p:sp>
      <p:sp>
        <p:nvSpPr>
          <p:cNvPr id="18" name="Shape 16"/>
          <p:cNvSpPr/>
          <p:nvPr/>
        </p:nvSpPr>
        <p:spPr>
          <a:xfrm>
            <a:off x="8229600" y="2788920"/>
            <a:ext cx="3328416" cy="1618488"/>
          </a:xfrm>
          <a:prstGeom prst="roundRect">
            <a:avLst>
              <a:gd name="adj" fmla="val 5650"/>
            </a:avLst>
          </a:prstGeom>
          <a:solidFill>
            <a:srgbClr val="F6F8F9"/>
          </a:solidFill>
          <a:ln w="12700">
            <a:solidFill>
              <a:srgbClr val="F6F8F9">
                <a:alpha val="0"/>
              </a:srgbClr>
            </a:solidFill>
            <a:prstDash val="solid"/>
          </a:ln>
        </p:spPr>
      </p:sp>
      <p:sp>
        <p:nvSpPr>
          <p:cNvPr id="19" name="Text 17"/>
          <p:cNvSpPr/>
          <p:nvPr/>
        </p:nvSpPr>
        <p:spPr>
          <a:xfrm>
            <a:off x="8458200" y="2990088"/>
            <a:ext cx="2743200" cy="594360"/>
          </a:xfrm>
          <a:prstGeom prst="rect">
            <a:avLst/>
          </a:prstGeom>
          <a:noFill/>
          <a:ln/>
        </p:spPr>
        <p:txBody>
          <a:bodyPr wrap="square" lIns="0" tIns="0" rIns="0" bIns="0" rtlCol="0" anchor="ctr">
            <a:normAutofit/>
          </a:bodyPr>
          <a:lstStyle/>
          <a:p>
            <a:pPr algn="l" indent="0" marL="0">
              <a:buNone/>
            </a:pPr>
            <a:r>
              <a:rPr lang="en-US" sz="3400" b="1" dirty="0">
                <a:solidFill>
                  <a:srgbClr val="152A3A"/>
                </a:solidFill>
                <a:latin typeface="Aptos" pitchFamily="34" charset="0"/>
                <a:ea typeface="Aptos" pitchFamily="34" charset="-122"/>
                <a:cs typeface="Aptos" pitchFamily="34" charset="-120"/>
              </a:rPr>
              <a:t>3,462</a:t>
            </a:r>
            <a:endParaRPr lang="en-US" sz="3400" dirty="0"/>
          </a:p>
        </p:txBody>
      </p:sp>
      <p:sp>
        <p:nvSpPr>
          <p:cNvPr id="20" name="Text 18"/>
          <p:cNvSpPr/>
          <p:nvPr/>
        </p:nvSpPr>
        <p:spPr>
          <a:xfrm>
            <a:off x="8458200" y="3666744"/>
            <a:ext cx="2788920" cy="274320"/>
          </a:xfrm>
          <a:prstGeom prst="rect">
            <a:avLst/>
          </a:prstGeom>
          <a:noFill/>
          <a:ln/>
        </p:spPr>
        <p:txBody>
          <a:bodyPr wrap="square" lIns="0" tIns="0" rIns="0" bIns="0" rtlCol="0" anchor="ctr">
            <a:normAutofit/>
          </a:bodyPr>
          <a:lstStyle/>
          <a:p>
            <a:pPr algn="l" indent="0" marL="0">
              <a:buNone/>
            </a:pPr>
            <a:r>
              <a:rPr lang="en-US" sz="1320" b="1" dirty="0">
                <a:solidFill>
                  <a:srgbClr val="526675"/>
                </a:solidFill>
                <a:latin typeface="Aptos" pitchFamily="34" charset="0"/>
                <a:ea typeface="Aptos" pitchFamily="34" charset="-122"/>
                <a:cs typeface="Aptos" pitchFamily="34" charset="-120"/>
              </a:rPr>
              <a:t>Validation queries</a:t>
            </a:r>
            <a:endParaRPr lang="en-US" sz="1320" dirty="0"/>
          </a:p>
        </p:txBody>
      </p:sp>
      <p:sp>
        <p:nvSpPr>
          <p:cNvPr id="21" name="Text 19"/>
          <p:cNvSpPr/>
          <p:nvPr/>
        </p:nvSpPr>
        <p:spPr>
          <a:xfrm>
            <a:off x="8458200" y="4005072"/>
            <a:ext cx="2788920" cy="182880"/>
          </a:xfrm>
          <a:prstGeom prst="rect">
            <a:avLst/>
          </a:prstGeom>
          <a:noFill/>
          <a:ln/>
        </p:spPr>
        <p:txBody>
          <a:bodyPr wrap="square" lIns="0" tIns="0" rIns="0" bIns="0" rtlCol="0" anchor="ctr">
            <a:normAutofit/>
          </a:bodyPr>
          <a:lstStyle/>
          <a:p>
            <a:pPr algn="l" indent="0" marL="0">
              <a:buNone/>
            </a:pPr>
            <a:r>
              <a:rPr lang="en-US" sz="1040" dirty="0">
                <a:solidFill>
                  <a:srgbClr val="768794"/>
                </a:solidFill>
                <a:latin typeface="Aptos" pitchFamily="34" charset="0"/>
                <a:ea typeface="Aptos" pitchFamily="34" charset="-122"/>
                <a:cs typeface="Aptos" pitchFamily="34" charset="-120"/>
              </a:rPr>
              <a:t>Distinct 40-bit descriptions</a:t>
            </a:r>
            <a:endParaRPr lang="en-US" sz="1040" dirty="0"/>
          </a:p>
        </p:txBody>
      </p:sp>
      <p:sp>
        <p:nvSpPr>
          <p:cNvPr id="22" name="Shape 20"/>
          <p:cNvSpPr/>
          <p:nvPr/>
        </p:nvSpPr>
        <p:spPr>
          <a:xfrm>
            <a:off x="685800" y="5047488"/>
            <a:ext cx="10744200" cy="0"/>
          </a:xfrm>
          <a:prstGeom prst="line">
            <a:avLst/>
          </a:prstGeom>
          <a:noFill/>
          <a:ln w="12700">
            <a:solidFill>
              <a:srgbClr val="DCE5E8"/>
            </a:solidFill>
            <a:prstDash val="solid"/>
          </a:ln>
        </p:spPr>
      </p:sp>
      <p:sp>
        <p:nvSpPr>
          <p:cNvPr id="23" name="Text 21"/>
          <p:cNvSpPr/>
          <p:nvPr/>
        </p:nvSpPr>
        <p:spPr>
          <a:xfrm>
            <a:off x="694944" y="5422392"/>
            <a:ext cx="2148840" cy="237744"/>
          </a:xfrm>
          <a:prstGeom prst="rect">
            <a:avLst/>
          </a:prstGeom>
          <a:noFill/>
          <a:ln/>
        </p:spPr>
        <p:txBody>
          <a:bodyPr wrap="square" lIns="0" tIns="0" rIns="0" bIns="0" rtlCol="0" anchor="ctr">
            <a:normAutofit/>
          </a:bodyPr>
          <a:lstStyle/>
          <a:p>
            <a:pPr algn="l" indent="0" marL="0">
              <a:buNone/>
            </a:pPr>
            <a:r>
              <a:rPr lang="en-US" sz="1060" b="1" spc="100" kern="0" dirty="0">
                <a:solidFill>
                  <a:srgbClr val="397D82"/>
                </a:solidFill>
                <a:latin typeface="Aptos" pitchFamily="34" charset="0"/>
                <a:ea typeface="Aptos" pitchFamily="34" charset="-122"/>
                <a:cs typeface="Aptos" pitchFamily="34" charset="-120"/>
              </a:rPr>
              <a:t>SOURCE DATASETS</a:t>
            </a:r>
            <a:endParaRPr lang="en-US" sz="1060" dirty="0"/>
          </a:p>
        </p:txBody>
      </p:sp>
      <p:sp>
        <p:nvSpPr>
          <p:cNvPr id="24" name="Text 22"/>
          <p:cNvSpPr/>
          <p:nvPr/>
        </p:nvSpPr>
        <p:spPr>
          <a:xfrm>
            <a:off x="2926080" y="5349240"/>
            <a:ext cx="8046720" cy="448056"/>
          </a:xfrm>
          <a:prstGeom prst="rect">
            <a:avLst/>
          </a:prstGeom>
          <a:noFill/>
          <a:ln/>
        </p:spPr>
        <p:txBody>
          <a:bodyPr wrap="square" lIns="0" tIns="0" rIns="0" bIns="0" rtlCol="0" anchor="ctr">
            <a:normAutofit/>
          </a:bodyPr>
          <a:lstStyle/>
          <a:p>
            <a:pPr algn="l" indent="0" marL="0">
              <a:buNone/>
            </a:pPr>
            <a:r>
              <a:rPr lang="en-US" sz="1810" b="1" dirty="0">
                <a:solidFill>
                  <a:srgbClr val="1D3040"/>
                </a:solidFill>
                <a:latin typeface="Aptos" pitchFamily="34" charset="0"/>
                <a:ea typeface="Aptos" pitchFamily="34" charset="-122"/>
                <a:cs typeface="Aptos" pitchFamily="34" charset="-120"/>
              </a:rPr>
              <a:t>Market1501       PA-100K       PETA</a:t>
            </a:r>
            <a:endParaRPr lang="en-US" sz="181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2743200" cy="228600"/>
          </a:xfrm>
          <a:prstGeom prst="rect">
            <a:avLst/>
          </a:prstGeom>
          <a:noFill/>
          <a:ln/>
        </p:spPr>
        <p:txBody>
          <a:bodyPr wrap="square" lIns="0" tIns="0" rIns="0" bIns="0" rtlCol="0" anchor="ctr">
            <a:normAutofit/>
          </a:bodyPr>
          <a:lstStyle/>
          <a:p>
            <a:pPr algn="l" indent="0" marL="0">
              <a:buNone/>
            </a:pPr>
            <a:r>
              <a:rPr lang="en-US" sz="1000" b="1" spc="135" kern="0" dirty="0">
                <a:solidFill>
                  <a:srgbClr val="768794"/>
                </a:solidFill>
                <a:latin typeface="Aptos" pitchFamily="34" charset="0"/>
                <a:ea typeface="Aptos" pitchFamily="34" charset="-122"/>
                <a:cs typeface="Aptos" pitchFamily="34" charset="-120"/>
              </a:rPr>
              <a:t>UPAR   /   TRACK 02</a:t>
            </a:r>
            <a:endParaRPr lang="en-US" sz="1000" dirty="0"/>
          </a:p>
        </p:txBody>
      </p:sp>
      <p:sp>
        <p:nvSpPr>
          <p:cNvPr id="3" name="Text 1"/>
          <p:cNvSpPr/>
          <p:nvPr/>
        </p:nvSpPr>
        <p:spPr>
          <a:xfrm>
            <a:off x="11036808" y="310896"/>
            <a:ext cx="566928" cy="219456"/>
          </a:xfrm>
          <a:prstGeom prst="rect">
            <a:avLst/>
          </a:prstGeom>
          <a:noFill/>
          <a:ln/>
        </p:spPr>
        <p:txBody>
          <a:bodyPr wrap="square" lIns="0" tIns="0" rIns="0" bIns="0" rtlCol="0" anchor="ctr">
            <a:normAutofit/>
          </a:bodyPr>
          <a:lstStyle/>
          <a:p>
            <a:pPr algn="r" indent="0" marL="0">
              <a:buNone/>
            </a:pPr>
            <a:r>
              <a:rPr lang="en-US" sz="1020" b="1" dirty="0">
                <a:solidFill>
                  <a:srgbClr val="768794"/>
                </a:solidFill>
                <a:latin typeface="Aptos" pitchFamily="34" charset="0"/>
                <a:ea typeface="Aptos" pitchFamily="34" charset="-122"/>
                <a:cs typeface="Aptos" pitchFamily="34" charset="-120"/>
              </a:rPr>
              <a:t>04</a:t>
            </a:r>
            <a:endParaRPr lang="en-US" sz="1020" dirty="0"/>
          </a:p>
        </p:txBody>
      </p:sp>
      <p:sp>
        <p:nvSpPr>
          <p:cNvPr id="4" name="Shape 2"/>
          <p:cNvSpPr/>
          <p:nvPr/>
        </p:nvSpPr>
        <p:spPr>
          <a:xfrm>
            <a:off x="566928" y="731520"/>
            <a:ext cx="11045952" cy="0"/>
          </a:xfrm>
          <a:prstGeom prst="line">
            <a:avLst/>
          </a:prstGeom>
          <a:noFill/>
          <a:ln w="10160">
            <a:solidFill>
              <a:srgbClr val="DCE5E8"/>
            </a:solidFill>
            <a:prstDash val="solid"/>
          </a:ln>
        </p:spPr>
      </p:sp>
      <p:sp>
        <p:nvSpPr>
          <p:cNvPr id="5" name="Text 3"/>
          <p:cNvSpPr/>
          <p:nvPr/>
        </p:nvSpPr>
        <p:spPr>
          <a:xfrm>
            <a:off x="603504" y="996696"/>
            <a:ext cx="8229600" cy="201168"/>
          </a:xfrm>
          <a:prstGeom prst="rect">
            <a:avLst/>
          </a:prstGeom>
          <a:noFill/>
          <a:ln/>
        </p:spPr>
        <p:txBody>
          <a:bodyPr wrap="square" lIns="0" tIns="0" rIns="0" bIns="0" rtlCol="0" anchor="ctr">
            <a:normAutofit/>
          </a:bodyPr>
          <a:lstStyle/>
          <a:p>
            <a:pPr algn="l" indent="0" marL="0">
              <a:buNone/>
            </a:pPr>
            <a:r>
              <a:rPr lang="en-US" sz="1050" b="1" spc="160" kern="0" dirty="0">
                <a:solidFill>
                  <a:srgbClr val="397D82"/>
                </a:solidFill>
                <a:latin typeface="Aptos" pitchFamily="34" charset="0"/>
                <a:ea typeface="Aptos" pitchFamily="34" charset="-122"/>
                <a:cs typeface="Aptos" pitchFamily="34" charset="-120"/>
              </a:rPr>
              <a:t>DEVELOPMENT HISTORY</a:t>
            </a:r>
            <a:endParaRPr lang="en-US" sz="1050" dirty="0"/>
          </a:p>
        </p:txBody>
      </p:sp>
      <p:sp>
        <p:nvSpPr>
          <p:cNvPr id="6" name="Text 4"/>
          <p:cNvSpPr/>
          <p:nvPr/>
        </p:nvSpPr>
        <p:spPr>
          <a:xfrm>
            <a:off x="585216" y="1353312"/>
            <a:ext cx="10927080" cy="621792"/>
          </a:xfrm>
          <a:prstGeom prst="rect">
            <a:avLst/>
          </a:prstGeom>
          <a:noFill/>
          <a:ln/>
        </p:spPr>
        <p:txBody>
          <a:bodyPr wrap="square" lIns="0" tIns="0" rIns="0" bIns="0" rtlCol="0" anchor="ctr">
            <a:normAutofit/>
          </a:bodyPr>
          <a:lstStyle/>
          <a:p>
            <a:pPr algn="l" indent="0" marL="0">
              <a:buNone/>
            </a:pPr>
            <a:r>
              <a:rPr lang="en-US" sz="2950" b="1" dirty="0">
                <a:solidFill>
                  <a:srgbClr val="152A3A"/>
                </a:solidFill>
                <a:latin typeface="Aptos" pitchFamily="34" charset="0"/>
                <a:ea typeface="Aptos" pitchFamily="34" charset="-122"/>
                <a:cs typeface="Aptos" pitchFamily="34" charset="-120"/>
              </a:rPr>
              <a:t>How we developed the system</a:t>
            </a:r>
            <a:endParaRPr lang="en-US" sz="2950" dirty="0"/>
          </a:p>
        </p:txBody>
      </p:sp>
      <p:sp>
        <p:nvSpPr>
          <p:cNvPr id="7" name="Text 5"/>
          <p:cNvSpPr/>
          <p:nvPr/>
        </p:nvSpPr>
        <p:spPr>
          <a:xfrm>
            <a:off x="603504" y="1984248"/>
            <a:ext cx="10424160" cy="457200"/>
          </a:xfrm>
          <a:prstGeom prst="rect">
            <a:avLst/>
          </a:prstGeom>
          <a:noFill/>
          <a:ln/>
        </p:spPr>
        <p:txBody>
          <a:bodyPr wrap="square" lIns="0" tIns="0" rIns="0" bIns="0" rtlCol="0" anchor="ctr">
            <a:normAutofit/>
          </a:bodyPr>
          <a:lstStyle/>
          <a:p>
            <a:pPr algn="l" indent="0" marL="0">
              <a:buNone/>
            </a:pPr>
            <a:r>
              <a:rPr lang="en-US" sz="1440" dirty="0">
                <a:solidFill>
                  <a:srgbClr val="526675"/>
                </a:solidFill>
                <a:latin typeface="Aptos" pitchFamily="34" charset="0"/>
                <a:ea typeface="Aptos" pitchFamily="34" charset="-122"/>
                <a:cs typeface="Aptos" pitchFamily="34" charset="-120"/>
              </a:rPr>
              <a:t>Three backbone training runs, then retrieval-oriented modeling.</a:t>
            </a:r>
            <a:endParaRPr lang="en-US" sz="1440" dirty="0"/>
          </a:p>
        </p:txBody>
      </p:sp>
      <p:sp>
        <p:nvSpPr>
          <p:cNvPr id="8" name="Shape 6"/>
          <p:cNvSpPr/>
          <p:nvPr/>
        </p:nvSpPr>
        <p:spPr>
          <a:xfrm>
            <a:off x="566928" y="6510528"/>
            <a:ext cx="11045952" cy="0"/>
          </a:xfrm>
          <a:prstGeom prst="line">
            <a:avLst/>
          </a:prstGeom>
          <a:noFill/>
          <a:ln w="8890">
            <a:solidFill>
              <a:srgbClr val="DCE5E8"/>
            </a:solidFill>
            <a:prstDash val="solid"/>
          </a:ln>
        </p:spPr>
      </p:sp>
      <p:sp>
        <p:nvSpPr>
          <p:cNvPr id="9" name="Text 7"/>
          <p:cNvSpPr/>
          <p:nvPr/>
        </p:nvSpPr>
        <p:spPr>
          <a:xfrm>
            <a:off x="585216" y="6547104"/>
            <a:ext cx="9144000" cy="173736"/>
          </a:xfrm>
          <a:prstGeom prst="rect">
            <a:avLst/>
          </a:prstGeom>
          <a:noFill/>
          <a:ln/>
        </p:spPr>
        <p:txBody>
          <a:bodyPr wrap="square" lIns="0" tIns="0" rIns="0" bIns="0" rtlCol="0" anchor="ctr">
            <a:normAutofit/>
          </a:bodyPr>
          <a:lstStyle/>
          <a:p>
            <a:pPr algn="l" indent="0" marL="0">
              <a:buNone/>
            </a:pPr>
            <a:r>
              <a:rPr lang="en-US" sz="820" spc="50" kern="0" dirty="0">
                <a:solidFill>
                  <a:srgbClr val="768794"/>
                </a:solidFill>
                <a:latin typeface="Aptos" pitchFamily="34" charset="0"/>
                <a:ea typeface="Aptos" pitchFamily="34" charset="-122"/>
                <a:cs typeface="Aptos" pitchFamily="34" charset="-120"/>
              </a:rPr>
              <a:t>UPAR CHALLENGE 2027  ·  ATTRIBUTE-BASED PEDESTRIAN RETRIEVAL</a:t>
            </a:r>
            <a:endParaRPr lang="en-US" sz="820" dirty="0"/>
          </a:p>
        </p:txBody>
      </p:sp>
      <p:sp>
        <p:nvSpPr>
          <p:cNvPr id="10" name="Text 8"/>
          <p:cNvSpPr/>
          <p:nvPr/>
        </p:nvSpPr>
        <p:spPr>
          <a:xfrm>
            <a:off x="685800" y="2642616"/>
            <a:ext cx="5120640" cy="219456"/>
          </a:xfrm>
          <a:prstGeom prst="rect">
            <a:avLst/>
          </a:prstGeom>
          <a:noFill/>
          <a:ln/>
        </p:spPr>
        <p:txBody>
          <a:bodyPr wrap="square" lIns="0" tIns="0" rIns="0" bIns="0" rtlCol="0" anchor="ctr">
            <a:normAutofit/>
          </a:bodyPr>
          <a:lstStyle/>
          <a:p>
            <a:pPr algn="l" indent="0" marL="0">
              <a:buNone/>
            </a:pPr>
            <a:r>
              <a:rPr lang="en-US" sz="1100" b="1" spc="100" kern="0" dirty="0">
                <a:solidFill>
                  <a:srgbClr val="397D82"/>
                </a:solidFill>
                <a:latin typeface="Aptos" pitchFamily="34" charset="0"/>
                <a:ea typeface="Aptos" pitchFamily="34" charset="-122"/>
                <a:cs typeface="Aptos" pitchFamily="34" charset="-120"/>
              </a:rPr>
              <a:t>VISUAL BACKBONE RUNS</a:t>
            </a:r>
            <a:endParaRPr lang="en-US" sz="1100" dirty="0"/>
          </a:p>
        </p:txBody>
      </p:sp>
      <p:sp>
        <p:nvSpPr>
          <p:cNvPr id="11" name="Shape 9"/>
          <p:cNvSpPr/>
          <p:nvPr/>
        </p:nvSpPr>
        <p:spPr>
          <a:xfrm>
            <a:off x="713232" y="2999232"/>
            <a:ext cx="3383280" cy="1161288"/>
          </a:xfrm>
          <a:prstGeom prst="roundRect">
            <a:avLst>
              <a:gd name="adj" fmla="val 6299"/>
            </a:avLst>
          </a:prstGeom>
          <a:solidFill>
            <a:srgbClr val="F6F8F9"/>
          </a:solidFill>
          <a:ln w="8890">
            <a:solidFill>
              <a:srgbClr val="DCE5E8"/>
            </a:solidFill>
            <a:prstDash val="solid"/>
          </a:ln>
        </p:spPr>
      </p:sp>
      <p:sp>
        <p:nvSpPr>
          <p:cNvPr id="12" name="Text 10"/>
          <p:cNvSpPr/>
          <p:nvPr/>
        </p:nvSpPr>
        <p:spPr>
          <a:xfrm>
            <a:off x="877824" y="3200400"/>
            <a:ext cx="365760" cy="356616"/>
          </a:xfrm>
          <a:prstGeom prst="rect">
            <a:avLst/>
          </a:prstGeom>
          <a:noFill/>
          <a:ln/>
        </p:spPr>
        <p:txBody>
          <a:bodyPr wrap="square" lIns="0" tIns="0" rIns="0" bIns="0" rtlCol="0" anchor="ctr">
            <a:normAutofit/>
          </a:bodyPr>
          <a:lstStyle/>
          <a:p>
            <a:pPr algn="l" indent="0" marL="0">
              <a:buNone/>
            </a:pPr>
            <a:r>
              <a:rPr lang="en-US" sz="2200" b="1" dirty="0">
                <a:solidFill>
                  <a:srgbClr val="397D82"/>
                </a:solidFill>
                <a:latin typeface="Aptos" pitchFamily="34" charset="0"/>
                <a:ea typeface="Aptos" pitchFamily="34" charset="-122"/>
                <a:cs typeface="Aptos" pitchFamily="34" charset="-120"/>
              </a:rPr>
              <a:t>01</a:t>
            </a:r>
            <a:endParaRPr lang="en-US" sz="2200" dirty="0"/>
          </a:p>
        </p:txBody>
      </p:sp>
      <p:sp>
        <p:nvSpPr>
          <p:cNvPr id="13" name="Text 11"/>
          <p:cNvSpPr/>
          <p:nvPr/>
        </p:nvSpPr>
        <p:spPr>
          <a:xfrm>
            <a:off x="1371600" y="3163824"/>
            <a:ext cx="2478024" cy="329184"/>
          </a:xfrm>
          <a:prstGeom prst="rect">
            <a:avLst/>
          </a:prstGeom>
          <a:noFill/>
          <a:ln/>
        </p:spPr>
        <p:txBody>
          <a:bodyPr wrap="square" lIns="0" tIns="0" rIns="0" bIns="0" rtlCol="0" anchor="ctr">
            <a:normAutofit/>
          </a:bodyPr>
          <a:lstStyle/>
          <a:p>
            <a:pPr algn="l" indent="0" marL="0">
              <a:buNone/>
            </a:pPr>
            <a:r>
              <a:rPr lang="en-US" sz="1620" b="1" dirty="0">
                <a:solidFill>
                  <a:srgbClr val="1D3040"/>
                </a:solidFill>
                <a:latin typeface="Aptos" pitchFamily="34" charset="0"/>
                <a:ea typeface="Aptos" pitchFamily="34" charset="-122"/>
                <a:cs typeface="Aptos" pitchFamily="34" charset="-120"/>
              </a:rPr>
              <a:t>ResNet-50</a:t>
            </a:r>
            <a:endParaRPr lang="en-US" sz="1620" dirty="0"/>
          </a:p>
        </p:txBody>
      </p:sp>
      <p:sp>
        <p:nvSpPr>
          <p:cNvPr id="14" name="Text 12"/>
          <p:cNvSpPr/>
          <p:nvPr/>
        </p:nvSpPr>
        <p:spPr>
          <a:xfrm>
            <a:off x="1371600" y="3584448"/>
            <a:ext cx="2450592" cy="301752"/>
          </a:xfrm>
          <a:prstGeom prst="rect">
            <a:avLst/>
          </a:prstGeom>
          <a:noFill/>
          <a:ln/>
        </p:spPr>
        <p:txBody>
          <a:bodyPr wrap="square" lIns="0" tIns="0" rIns="0" bIns="0" rtlCol="0" anchor="ctr">
            <a:normAutofit/>
          </a:bodyPr>
          <a:lstStyle/>
          <a:p>
            <a:pPr algn="l" indent="0" marL="0">
              <a:buNone/>
            </a:pPr>
            <a:r>
              <a:rPr lang="en-US" sz="1180" dirty="0">
                <a:solidFill>
                  <a:srgbClr val="526675"/>
                </a:solidFill>
                <a:latin typeface="Aptos" pitchFamily="34" charset="0"/>
                <a:ea typeface="Aptos" pitchFamily="34" charset="-122"/>
                <a:cs typeface="Aptos" pitchFamily="34" charset="-120"/>
              </a:rPr>
              <a:t>Baseline classifier</a:t>
            </a:r>
            <a:endParaRPr lang="en-US" sz="1180" dirty="0"/>
          </a:p>
        </p:txBody>
      </p:sp>
      <p:sp>
        <p:nvSpPr>
          <p:cNvPr id="15" name="Shape 13"/>
          <p:cNvSpPr/>
          <p:nvPr/>
        </p:nvSpPr>
        <p:spPr>
          <a:xfrm>
            <a:off x="4526280" y="2999232"/>
            <a:ext cx="3383280" cy="1161288"/>
          </a:xfrm>
          <a:prstGeom prst="roundRect">
            <a:avLst>
              <a:gd name="adj" fmla="val 6299"/>
            </a:avLst>
          </a:prstGeom>
          <a:solidFill>
            <a:srgbClr val="F6F8F9"/>
          </a:solidFill>
          <a:ln w="8890">
            <a:solidFill>
              <a:srgbClr val="DCE5E8"/>
            </a:solidFill>
            <a:prstDash val="solid"/>
          </a:ln>
        </p:spPr>
      </p:sp>
      <p:sp>
        <p:nvSpPr>
          <p:cNvPr id="16" name="Text 14"/>
          <p:cNvSpPr/>
          <p:nvPr/>
        </p:nvSpPr>
        <p:spPr>
          <a:xfrm>
            <a:off x="4690872" y="3200400"/>
            <a:ext cx="365760" cy="356616"/>
          </a:xfrm>
          <a:prstGeom prst="rect">
            <a:avLst/>
          </a:prstGeom>
          <a:noFill/>
          <a:ln/>
        </p:spPr>
        <p:txBody>
          <a:bodyPr wrap="square" lIns="0" tIns="0" rIns="0" bIns="0" rtlCol="0" anchor="ctr">
            <a:normAutofit/>
          </a:bodyPr>
          <a:lstStyle/>
          <a:p>
            <a:pPr algn="l" indent="0" marL="0">
              <a:buNone/>
            </a:pPr>
            <a:r>
              <a:rPr lang="en-US" sz="2200" b="1" dirty="0">
                <a:solidFill>
                  <a:srgbClr val="397D82"/>
                </a:solidFill>
                <a:latin typeface="Aptos" pitchFamily="34" charset="0"/>
                <a:ea typeface="Aptos" pitchFamily="34" charset="-122"/>
                <a:cs typeface="Aptos" pitchFamily="34" charset="-120"/>
              </a:rPr>
              <a:t>02</a:t>
            </a:r>
            <a:endParaRPr lang="en-US" sz="2200" dirty="0"/>
          </a:p>
        </p:txBody>
      </p:sp>
      <p:sp>
        <p:nvSpPr>
          <p:cNvPr id="17" name="Text 15"/>
          <p:cNvSpPr/>
          <p:nvPr/>
        </p:nvSpPr>
        <p:spPr>
          <a:xfrm>
            <a:off x="5184648" y="3163824"/>
            <a:ext cx="2478024" cy="329184"/>
          </a:xfrm>
          <a:prstGeom prst="rect">
            <a:avLst/>
          </a:prstGeom>
          <a:noFill/>
          <a:ln/>
        </p:spPr>
        <p:txBody>
          <a:bodyPr wrap="square" lIns="0" tIns="0" rIns="0" bIns="0" rtlCol="0" anchor="ctr">
            <a:normAutofit/>
          </a:bodyPr>
          <a:lstStyle/>
          <a:p>
            <a:pPr algn="l" indent="0" marL="0">
              <a:buNone/>
            </a:pPr>
            <a:r>
              <a:rPr lang="en-US" sz="1620" b="1" dirty="0">
                <a:solidFill>
                  <a:srgbClr val="1D3040"/>
                </a:solidFill>
                <a:latin typeface="Aptos" pitchFamily="34" charset="0"/>
                <a:ea typeface="Aptos" pitchFamily="34" charset="-122"/>
                <a:cs typeface="Aptos" pitchFamily="34" charset="-120"/>
              </a:rPr>
              <a:t>ConvNeXt-Tiny</a:t>
            </a:r>
            <a:endParaRPr lang="en-US" sz="1620" dirty="0"/>
          </a:p>
        </p:txBody>
      </p:sp>
      <p:sp>
        <p:nvSpPr>
          <p:cNvPr id="18" name="Text 16"/>
          <p:cNvSpPr/>
          <p:nvPr/>
        </p:nvSpPr>
        <p:spPr>
          <a:xfrm>
            <a:off x="5184648" y="3584448"/>
            <a:ext cx="2450592" cy="301752"/>
          </a:xfrm>
          <a:prstGeom prst="rect">
            <a:avLst/>
          </a:prstGeom>
          <a:noFill/>
          <a:ln/>
        </p:spPr>
        <p:txBody>
          <a:bodyPr wrap="square" lIns="0" tIns="0" rIns="0" bIns="0" rtlCol="0" anchor="ctr">
            <a:normAutofit/>
          </a:bodyPr>
          <a:lstStyle/>
          <a:p>
            <a:pPr algn="l" indent="0" marL="0">
              <a:buNone/>
            </a:pPr>
            <a:r>
              <a:rPr lang="en-US" sz="1180" dirty="0">
                <a:solidFill>
                  <a:srgbClr val="526675"/>
                </a:solidFill>
                <a:latin typeface="Aptos" pitchFamily="34" charset="0"/>
                <a:ea typeface="Aptos" pitchFamily="34" charset="-122"/>
                <a:cs typeface="Aptos" pitchFamily="34" charset="-120"/>
              </a:rPr>
              <a:t>Improved attributes</a:t>
            </a:r>
            <a:endParaRPr lang="en-US" sz="1180" dirty="0"/>
          </a:p>
        </p:txBody>
      </p:sp>
      <p:sp>
        <p:nvSpPr>
          <p:cNvPr id="19" name="Shape 17"/>
          <p:cNvSpPr/>
          <p:nvPr/>
        </p:nvSpPr>
        <p:spPr>
          <a:xfrm>
            <a:off x="8339328" y="2999232"/>
            <a:ext cx="3383280" cy="1161288"/>
          </a:xfrm>
          <a:prstGeom prst="roundRect">
            <a:avLst>
              <a:gd name="adj" fmla="val 6299"/>
            </a:avLst>
          </a:prstGeom>
          <a:solidFill>
            <a:srgbClr val="F6F8F9"/>
          </a:solidFill>
          <a:ln w="8890">
            <a:solidFill>
              <a:srgbClr val="DCE5E8"/>
            </a:solidFill>
            <a:prstDash val="solid"/>
          </a:ln>
        </p:spPr>
      </p:sp>
      <p:sp>
        <p:nvSpPr>
          <p:cNvPr id="20" name="Text 18"/>
          <p:cNvSpPr/>
          <p:nvPr/>
        </p:nvSpPr>
        <p:spPr>
          <a:xfrm>
            <a:off x="8503920" y="3200400"/>
            <a:ext cx="365760" cy="356616"/>
          </a:xfrm>
          <a:prstGeom prst="rect">
            <a:avLst/>
          </a:prstGeom>
          <a:noFill/>
          <a:ln/>
        </p:spPr>
        <p:txBody>
          <a:bodyPr wrap="square" lIns="0" tIns="0" rIns="0" bIns="0" rtlCol="0" anchor="ctr">
            <a:normAutofit/>
          </a:bodyPr>
          <a:lstStyle/>
          <a:p>
            <a:pPr algn="l" indent="0" marL="0">
              <a:buNone/>
            </a:pPr>
            <a:r>
              <a:rPr lang="en-US" sz="2200" b="1" dirty="0">
                <a:solidFill>
                  <a:srgbClr val="397D82"/>
                </a:solidFill>
                <a:latin typeface="Aptos" pitchFamily="34" charset="0"/>
                <a:ea typeface="Aptos" pitchFamily="34" charset="-122"/>
                <a:cs typeface="Aptos" pitchFamily="34" charset="-120"/>
              </a:rPr>
              <a:t>03</a:t>
            </a:r>
            <a:endParaRPr lang="en-US" sz="2200" dirty="0"/>
          </a:p>
        </p:txBody>
      </p:sp>
      <p:sp>
        <p:nvSpPr>
          <p:cNvPr id="21" name="Text 19"/>
          <p:cNvSpPr/>
          <p:nvPr/>
        </p:nvSpPr>
        <p:spPr>
          <a:xfrm>
            <a:off x="8997696" y="3163824"/>
            <a:ext cx="2478024" cy="329184"/>
          </a:xfrm>
          <a:prstGeom prst="rect">
            <a:avLst/>
          </a:prstGeom>
          <a:noFill/>
          <a:ln/>
        </p:spPr>
        <p:txBody>
          <a:bodyPr wrap="square" lIns="0" tIns="0" rIns="0" bIns="0" rtlCol="0" anchor="ctr">
            <a:normAutofit/>
          </a:bodyPr>
          <a:lstStyle/>
          <a:p>
            <a:pPr algn="l" indent="0" marL="0">
              <a:buNone/>
            </a:pPr>
            <a:r>
              <a:rPr lang="en-US" sz="1620" b="1" dirty="0">
                <a:solidFill>
                  <a:srgbClr val="1D3040"/>
                </a:solidFill>
                <a:latin typeface="Aptos" pitchFamily="34" charset="0"/>
                <a:ea typeface="Aptos" pitchFamily="34" charset="-122"/>
                <a:cs typeface="Aptos" pitchFamily="34" charset="-120"/>
              </a:rPr>
              <a:t>ConvNeXt Hybrid</a:t>
            </a:r>
            <a:endParaRPr lang="en-US" sz="1620" dirty="0"/>
          </a:p>
        </p:txBody>
      </p:sp>
      <p:sp>
        <p:nvSpPr>
          <p:cNvPr id="22" name="Text 20"/>
          <p:cNvSpPr/>
          <p:nvPr/>
        </p:nvSpPr>
        <p:spPr>
          <a:xfrm>
            <a:off x="8997696" y="3584448"/>
            <a:ext cx="2450592" cy="301752"/>
          </a:xfrm>
          <a:prstGeom prst="rect">
            <a:avLst/>
          </a:prstGeom>
          <a:noFill/>
          <a:ln/>
        </p:spPr>
        <p:txBody>
          <a:bodyPr wrap="square" lIns="0" tIns="0" rIns="0" bIns="0" rtlCol="0" anchor="ctr">
            <a:normAutofit/>
          </a:bodyPr>
          <a:lstStyle/>
          <a:p>
            <a:pPr algn="l" indent="0" marL="0">
              <a:buNone/>
            </a:pPr>
            <a:r>
              <a:rPr lang="en-US" sz="1180" dirty="0">
                <a:solidFill>
                  <a:srgbClr val="526675"/>
                </a:solidFill>
                <a:latin typeface="Aptos" pitchFamily="34" charset="0"/>
                <a:ea typeface="Aptos" pitchFamily="34" charset="-122"/>
                <a:cs typeface="Aptos" pitchFamily="34" charset="-120"/>
              </a:rPr>
              <a:t>Attributes + embedding</a:t>
            </a:r>
            <a:endParaRPr lang="en-US" sz="1180" dirty="0"/>
          </a:p>
        </p:txBody>
      </p:sp>
      <p:sp>
        <p:nvSpPr>
          <p:cNvPr id="23" name="Shape 21"/>
          <p:cNvSpPr/>
          <p:nvPr/>
        </p:nvSpPr>
        <p:spPr>
          <a:xfrm>
            <a:off x="5093208" y="4425696"/>
            <a:ext cx="0" cy="493776"/>
          </a:xfrm>
          <a:prstGeom prst="line">
            <a:avLst/>
          </a:prstGeom>
          <a:noFill/>
          <a:ln w="20955">
            <a:solidFill>
              <a:srgbClr val="397D82"/>
            </a:solidFill>
            <a:prstDash val="solid"/>
            <a:headEnd type="none"/>
            <a:tailEnd type="triangle"/>
          </a:ln>
        </p:spPr>
      </p:sp>
      <p:sp>
        <p:nvSpPr>
          <p:cNvPr id="24" name="Shape 22"/>
          <p:cNvSpPr/>
          <p:nvPr/>
        </p:nvSpPr>
        <p:spPr>
          <a:xfrm>
            <a:off x="9939528" y="4425696"/>
            <a:ext cx="0" cy="493776"/>
          </a:xfrm>
          <a:prstGeom prst="line">
            <a:avLst/>
          </a:prstGeom>
          <a:noFill/>
          <a:ln w="20955">
            <a:solidFill>
              <a:srgbClr val="397D82"/>
            </a:solidFill>
            <a:prstDash val="solid"/>
            <a:headEnd type="none"/>
            <a:tailEnd type="triangle"/>
          </a:ln>
        </p:spPr>
      </p:sp>
      <p:sp>
        <p:nvSpPr>
          <p:cNvPr id="25" name="Shape 23"/>
          <p:cNvSpPr/>
          <p:nvPr/>
        </p:nvSpPr>
        <p:spPr>
          <a:xfrm>
            <a:off x="704088" y="5038344"/>
            <a:ext cx="5166360" cy="694944"/>
          </a:xfrm>
          <a:prstGeom prst="roundRect">
            <a:avLst>
              <a:gd name="adj" fmla="val 7895"/>
            </a:avLst>
          </a:prstGeom>
          <a:solidFill>
            <a:srgbClr val="EDF3F4"/>
          </a:solidFill>
          <a:ln w="12700">
            <a:solidFill>
              <a:srgbClr val="EDF3F4">
                <a:alpha val="0"/>
              </a:srgbClr>
            </a:solidFill>
            <a:prstDash val="solid"/>
          </a:ln>
        </p:spPr>
      </p:sp>
      <p:sp>
        <p:nvSpPr>
          <p:cNvPr id="26" name="Text 24"/>
          <p:cNvSpPr/>
          <p:nvPr/>
        </p:nvSpPr>
        <p:spPr>
          <a:xfrm>
            <a:off x="877824" y="5138928"/>
            <a:ext cx="2157984" cy="256032"/>
          </a:xfrm>
          <a:prstGeom prst="rect">
            <a:avLst/>
          </a:prstGeom>
          <a:noFill/>
          <a:ln/>
        </p:spPr>
        <p:txBody>
          <a:bodyPr wrap="square" lIns="0" tIns="0" rIns="0" bIns="0" rtlCol="0" anchor="ctr">
            <a:normAutofit/>
          </a:bodyPr>
          <a:lstStyle/>
          <a:p>
            <a:pPr algn="l" indent="0" marL="0">
              <a:buNone/>
            </a:pPr>
            <a:r>
              <a:rPr lang="en-US" sz="1520" b="1" dirty="0">
                <a:solidFill>
                  <a:srgbClr val="1D3040"/>
                </a:solidFill>
                <a:latin typeface="Aptos" pitchFamily="34" charset="0"/>
                <a:ea typeface="Aptos" pitchFamily="34" charset="-122"/>
                <a:cs typeface="Aptos" pitchFamily="34" charset="-120"/>
              </a:rPr>
              <a:t>V3 VisualQuery</a:t>
            </a:r>
            <a:endParaRPr lang="en-US" sz="1520" dirty="0"/>
          </a:p>
        </p:txBody>
      </p:sp>
      <p:sp>
        <p:nvSpPr>
          <p:cNvPr id="27" name="Text 25"/>
          <p:cNvSpPr/>
          <p:nvPr/>
        </p:nvSpPr>
        <p:spPr>
          <a:xfrm>
            <a:off x="3063240" y="5138928"/>
            <a:ext cx="2615184" cy="292608"/>
          </a:xfrm>
          <a:prstGeom prst="rect">
            <a:avLst/>
          </a:prstGeom>
          <a:noFill/>
          <a:ln/>
        </p:spPr>
        <p:txBody>
          <a:bodyPr wrap="square" lIns="0" tIns="0" rIns="0" bIns="0" rtlCol="0" anchor="ctr">
            <a:normAutofit/>
          </a:bodyPr>
          <a:lstStyle/>
          <a:p>
            <a:pPr algn="l" indent="0" marL="0">
              <a:buNone/>
            </a:pPr>
            <a:r>
              <a:rPr lang="en-US" sz="1130" dirty="0">
                <a:solidFill>
                  <a:srgbClr val="526675"/>
                </a:solidFill>
                <a:latin typeface="Aptos" pitchFamily="34" charset="0"/>
                <a:ea typeface="Aptos" pitchFamily="34" charset="-122"/>
                <a:cs typeface="Aptos" pitchFamily="34" charset="-120"/>
              </a:rPr>
              <a:t>Retrieval heads over baseline features</a:t>
            </a:r>
            <a:endParaRPr lang="en-US" sz="1130" dirty="0"/>
          </a:p>
        </p:txBody>
      </p:sp>
      <p:sp>
        <p:nvSpPr>
          <p:cNvPr id="28" name="Shape 26"/>
          <p:cNvSpPr/>
          <p:nvPr/>
        </p:nvSpPr>
        <p:spPr>
          <a:xfrm>
            <a:off x="6345936" y="5038344"/>
            <a:ext cx="5157216" cy="694944"/>
          </a:xfrm>
          <a:prstGeom prst="roundRect">
            <a:avLst>
              <a:gd name="adj" fmla="val 7895"/>
            </a:avLst>
          </a:prstGeom>
          <a:solidFill>
            <a:srgbClr val="EDF3F4"/>
          </a:solidFill>
          <a:ln w="12700">
            <a:solidFill>
              <a:srgbClr val="EDF3F4">
                <a:alpha val="0"/>
              </a:srgbClr>
            </a:solidFill>
            <a:prstDash val="solid"/>
          </a:ln>
        </p:spPr>
      </p:sp>
      <p:sp>
        <p:nvSpPr>
          <p:cNvPr id="29" name="Text 27"/>
          <p:cNvSpPr/>
          <p:nvPr/>
        </p:nvSpPr>
        <p:spPr>
          <a:xfrm>
            <a:off x="6528816" y="5138928"/>
            <a:ext cx="2121408" cy="246888"/>
          </a:xfrm>
          <a:prstGeom prst="rect">
            <a:avLst/>
          </a:prstGeom>
          <a:noFill/>
          <a:ln/>
        </p:spPr>
        <p:txBody>
          <a:bodyPr wrap="square" lIns="0" tIns="0" rIns="0" bIns="0" rtlCol="0" anchor="ctr">
            <a:normAutofit/>
          </a:bodyPr>
          <a:lstStyle/>
          <a:p>
            <a:pPr algn="l" indent="0" marL="0">
              <a:buNone/>
            </a:pPr>
            <a:r>
              <a:rPr lang="en-US" sz="1520" b="1" dirty="0">
                <a:solidFill>
                  <a:srgbClr val="1D3040"/>
                </a:solidFill>
                <a:latin typeface="Aptos" pitchFamily="34" charset="0"/>
                <a:ea typeface="Aptos" pitchFamily="34" charset="-122"/>
                <a:cs typeface="Aptos" pitchFamily="34" charset="-120"/>
              </a:rPr>
              <a:t>CLEAN Hybrid</a:t>
            </a:r>
            <a:endParaRPr lang="en-US" sz="1520" dirty="0"/>
          </a:p>
        </p:txBody>
      </p:sp>
      <p:sp>
        <p:nvSpPr>
          <p:cNvPr id="30" name="Text 28"/>
          <p:cNvSpPr/>
          <p:nvPr/>
        </p:nvSpPr>
        <p:spPr>
          <a:xfrm>
            <a:off x="8659368" y="5138928"/>
            <a:ext cx="2542032" cy="274320"/>
          </a:xfrm>
          <a:prstGeom prst="rect">
            <a:avLst/>
          </a:prstGeom>
          <a:noFill/>
          <a:ln/>
        </p:spPr>
        <p:txBody>
          <a:bodyPr wrap="square" lIns="0" tIns="0" rIns="0" bIns="0" rtlCol="0" anchor="ctr">
            <a:normAutofit/>
          </a:bodyPr>
          <a:lstStyle/>
          <a:p>
            <a:pPr algn="l" indent="0" marL="0">
              <a:buNone/>
            </a:pPr>
            <a:r>
              <a:rPr lang="en-US" sz="1130" dirty="0">
                <a:solidFill>
                  <a:srgbClr val="526675"/>
                </a:solidFill>
                <a:latin typeface="Aptos" pitchFamily="34" charset="0"/>
                <a:ea typeface="Aptos" pitchFamily="34" charset="-122"/>
                <a:cs typeface="Aptos" pitchFamily="34" charset="-120"/>
              </a:rPr>
              <a:t>Attribute + metric scoring</a:t>
            </a:r>
            <a:endParaRPr lang="en-US" sz="1130" dirty="0"/>
          </a:p>
        </p:txBody>
      </p:sp>
      <p:sp>
        <p:nvSpPr>
          <p:cNvPr id="31" name="Text 29"/>
          <p:cNvSpPr/>
          <p:nvPr/>
        </p:nvSpPr>
        <p:spPr>
          <a:xfrm>
            <a:off x="1207008" y="6007608"/>
            <a:ext cx="10241280" cy="256032"/>
          </a:xfrm>
          <a:prstGeom prst="rect">
            <a:avLst/>
          </a:prstGeom>
          <a:noFill/>
          <a:ln/>
        </p:spPr>
        <p:txBody>
          <a:bodyPr wrap="square" lIns="0" tIns="0" rIns="0" bIns="0" rtlCol="0" anchor="ctr">
            <a:normAutofit/>
          </a:bodyPr>
          <a:lstStyle/>
          <a:p>
            <a:pPr algn="ctr" indent="0" marL="0">
              <a:buNone/>
            </a:pPr>
            <a:r>
              <a:rPr lang="en-US" sz="1190" b="1" spc="45" kern="0" dirty="0">
                <a:solidFill>
                  <a:srgbClr val="275E66"/>
                </a:solidFill>
                <a:latin typeface="Aptos" pitchFamily="34" charset="0"/>
                <a:ea typeface="Aptos" pitchFamily="34" charset="-122"/>
                <a:cs typeface="Aptos" pitchFamily="34" charset="-120"/>
              </a:rPr>
              <a:t>FINAL:  65% V3  +  35% CLEAN HYBRID     ·     FIXED SCORE-LEVEL FUSION</a:t>
            </a:r>
            <a:endParaRPr lang="en-US" sz="119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2743200" cy="228600"/>
          </a:xfrm>
          <a:prstGeom prst="rect">
            <a:avLst/>
          </a:prstGeom>
          <a:noFill/>
          <a:ln/>
        </p:spPr>
        <p:txBody>
          <a:bodyPr wrap="square" lIns="0" tIns="0" rIns="0" bIns="0" rtlCol="0" anchor="ctr">
            <a:normAutofit/>
          </a:bodyPr>
          <a:lstStyle/>
          <a:p>
            <a:pPr algn="l" indent="0" marL="0">
              <a:buNone/>
            </a:pPr>
            <a:r>
              <a:rPr lang="en-US" sz="1000" b="1" spc="135" kern="0" dirty="0">
                <a:solidFill>
                  <a:srgbClr val="768794"/>
                </a:solidFill>
                <a:latin typeface="Aptos" pitchFamily="34" charset="0"/>
                <a:ea typeface="Aptos" pitchFamily="34" charset="-122"/>
                <a:cs typeface="Aptos" pitchFamily="34" charset="-120"/>
              </a:rPr>
              <a:t>UPAR   /   TRACK 02</a:t>
            </a:r>
            <a:endParaRPr lang="en-US" sz="1000" dirty="0"/>
          </a:p>
        </p:txBody>
      </p:sp>
      <p:sp>
        <p:nvSpPr>
          <p:cNvPr id="3" name="Text 1"/>
          <p:cNvSpPr/>
          <p:nvPr/>
        </p:nvSpPr>
        <p:spPr>
          <a:xfrm>
            <a:off x="11036808" y="310896"/>
            <a:ext cx="566928" cy="219456"/>
          </a:xfrm>
          <a:prstGeom prst="rect">
            <a:avLst/>
          </a:prstGeom>
          <a:noFill/>
          <a:ln/>
        </p:spPr>
        <p:txBody>
          <a:bodyPr wrap="square" lIns="0" tIns="0" rIns="0" bIns="0" rtlCol="0" anchor="ctr">
            <a:normAutofit/>
          </a:bodyPr>
          <a:lstStyle/>
          <a:p>
            <a:pPr algn="r" indent="0" marL="0">
              <a:buNone/>
            </a:pPr>
            <a:r>
              <a:rPr lang="en-US" sz="1020" b="1" dirty="0">
                <a:solidFill>
                  <a:srgbClr val="768794"/>
                </a:solidFill>
                <a:latin typeface="Aptos" pitchFamily="34" charset="0"/>
                <a:ea typeface="Aptos" pitchFamily="34" charset="-122"/>
                <a:cs typeface="Aptos" pitchFamily="34" charset="-120"/>
              </a:rPr>
              <a:t>05</a:t>
            </a:r>
            <a:endParaRPr lang="en-US" sz="1020" dirty="0"/>
          </a:p>
        </p:txBody>
      </p:sp>
      <p:sp>
        <p:nvSpPr>
          <p:cNvPr id="4" name="Shape 2"/>
          <p:cNvSpPr/>
          <p:nvPr/>
        </p:nvSpPr>
        <p:spPr>
          <a:xfrm>
            <a:off x="566928" y="731520"/>
            <a:ext cx="11045952" cy="0"/>
          </a:xfrm>
          <a:prstGeom prst="line">
            <a:avLst/>
          </a:prstGeom>
          <a:noFill/>
          <a:ln w="10160">
            <a:solidFill>
              <a:srgbClr val="DCE5E8"/>
            </a:solidFill>
            <a:prstDash val="solid"/>
          </a:ln>
        </p:spPr>
      </p:sp>
      <p:sp>
        <p:nvSpPr>
          <p:cNvPr id="5" name="Text 3"/>
          <p:cNvSpPr/>
          <p:nvPr/>
        </p:nvSpPr>
        <p:spPr>
          <a:xfrm>
            <a:off x="603504" y="996696"/>
            <a:ext cx="8229600" cy="201168"/>
          </a:xfrm>
          <a:prstGeom prst="rect">
            <a:avLst/>
          </a:prstGeom>
          <a:noFill/>
          <a:ln/>
        </p:spPr>
        <p:txBody>
          <a:bodyPr wrap="square" lIns="0" tIns="0" rIns="0" bIns="0" rtlCol="0" anchor="ctr">
            <a:normAutofit/>
          </a:bodyPr>
          <a:lstStyle/>
          <a:p>
            <a:pPr algn="l" indent="0" marL="0">
              <a:buNone/>
            </a:pPr>
            <a:r>
              <a:rPr lang="en-US" sz="1050" b="1" spc="160" kern="0" dirty="0">
                <a:solidFill>
                  <a:srgbClr val="397D82"/>
                </a:solidFill>
                <a:latin typeface="Aptos" pitchFamily="34" charset="0"/>
                <a:ea typeface="Aptos" pitchFamily="34" charset="-122"/>
                <a:cs typeface="Aptos" pitchFamily="34" charset="-120"/>
              </a:rPr>
              <a:t>ENSEMBLE ARCHITECTURE</a:t>
            </a:r>
            <a:endParaRPr lang="en-US" sz="1050" dirty="0"/>
          </a:p>
        </p:txBody>
      </p:sp>
      <p:sp>
        <p:nvSpPr>
          <p:cNvPr id="6" name="Text 4"/>
          <p:cNvSpPr/>
          <p:nvPr/>
        </p:nvSpPr>
        <p:spPr>
          <a:xfrm>
            <a:off x="585216" y="1353312"/>
            <a:ext cx="10927080" cy="621792"/>
          </a:xfrm>
          <a:prstGeom prst="rect">
            <a:avLst/>
          </a:prstGeom>
          <a:noFill/>
          <a:ln/>
        </p:spPr>
        <p:txBody>
          <a:bodyPr wrap="square" lIns="0" tIns="0" rIns="0" bIns="0" rtlCol="0" anchor="ctr">
            <a:normAutofit/>
          </a:bodyPr>
          <a:lstStyle/>
          <a:p>
            <a:pPr algn="l" indent="0" marL="0">
              <a:buNone/>
            </a:pPr>
            <a:r>
              <a:rPr lang="en-US" sz="2950" b="1" dirty="0">
                <a:solidFill>
                  <a:srgbClr val="152A3A"/>
                </a:solidFill>
                <a:latin typeface="Aptos" pitchFamily="34" charset="0"/>
                <a:ea typeface="Aptos" pitchFamily="34" charset="-122"/>
                <a:cs typeface="Aptos" pitchFamily="34" charset="-120"/>
              </a:rPr>
              <a:t>Two complementary retrieval signals</a:t>
            </a:r>
            <a:endParaRPr lang="en-US" sz="2950" dirty="0"/>
          </a:p>
        </p:txBody>
      </p:sp>
      <p:sp>
        <p:nvSpPr>
          <p:cNvPr id="7" name="Text 5"/>
          <p:cNvSpPr/>
          <p:nvPr/>
        </p:nvSpPr>
        <p:spPr>
          <a:xfrm>
            <a:off x="603504" y="1984248"/>
            <a:ext cx="10424160" cy="457200"/>
          </a:xfrm>
          <a:prstGeom prst="rect">
            <a:avLst/>
          </a:prstGeom>
          <a:noFill/>
          <a:ln/>
        </p:spPr>
        <p:txBody>
          <a:bodyPr wrap="square" lIns="0" tIns="0" rIns="0" bIns="0" rtlCol="0" anchor="ctr">
            <a:normAutofit/>
          </a:bodyPr>
          <a:lstStyle/>
          <a:p>
            <a:pPr algn="l" indent="0" marL="0">
              <a:buNone/>
            </a:pPr>
            <a:r>
              <a:rPr lang="en-US" sz="1440" dirty="0">
                <a:solidFill>
                  <a:srgbClr val="526675"/>
                </a:solidFill>
                <a:latin typeface="Aptos" pitchFamily="34" charset="0"/>
                <a:ea typeface="Aptos" pitchFamily="34" charset="-122"/>
                <a:cs typeface="Aptos" pitchFamily="34" charset="-120"/>
              </a:rPr>
              <a:t>Scores are standardized per query before fusion.</a:t>
            </a:r>
            <a:endParaRPr lang="en-US" sz="1440" dirty="0"/>
          </a:p>
        </p:txBody>
      </p:sp>
      <p:sp>
        <p:nvSpPr>
          <p:cNvPr id="8" name="Shape 6"/>
          <p:cNvSpPr/>
          <p:nvPr/>
        </p:nvSpPr>
        <p:spPr>
          <a:xfrm>
            <a:off x="566928" y="6510528"/>
            <a:ext cx="11045952" cy="0"/>
          </a:xfrm>
          <a:prstGeom prst="line">
            <a:avLst/>
          </a:prstGeom>
          <a:noFill/>
          <a:ln w="8890">
            <a:solidFill>
              <a:srgbClr val="DCE5E8"/>
            </a:solidFill>
            <a:prstDash val="solid"/>
          </a:ln>
        </p:spPr>
      </p:sp>
      <p:sp>
        <p:nvSpPr>
          <p:cNvPr id="9" name="Text 7"/>
          <p:cNvSpPr/>
          <p:nvPr/>
        </p:nvSpPr>
        <p:spPr>
          <a:xfrm>
            <a:off x="585216" y="6547104"/>
            <a:ext cx="9144000" cy="173736"/>
          </a:xfrm>
          <a:prstGeom prst="rect">
            <a:avLst/>
          </a:prstGeom>
          <a:noFill/>
          <a:ln/>
        </p:spPr>
        <p:txBody>
          <a:bodyPr wrap="square" lIns="0" tIns="0" rIns="0" bIns="0" rtlCol="0" anchor="ctr">
            <a:normAutofit/>
          </a:bodyPr>
          <a:lstStyle/>
          <a:p>
            <a:pPr algn="l" indent="0" marL="0">
              <a:buNone/>
            </a:pPr>
            <a:r>
              <a:rPr lang="en-US" sz="820" spc="50" kern="0" dirty="0">
                <a:solidFill>
                  <a:srgbClr val="768794"/>
                </a:solidFill>
                <a:latin typeface="Aptos" pitchFamily="34" charset="0"/>
                <a:ea typeface="Aptos" pitchFamily="34" charset="-122"/>
                <a:cs typeface="Aptos" pitchFamily="34" charset="-120"/>
              </a:rPr>
              <a:t>UPAR CHALLENGE 2027  ·  ATTRIBUTE-BASED PEDESTRIAN RETRIEVAL</a:t>
            </a:r>
            <a:endParaRPr lang="en-US" sz="820" dirty="0"/>
          </a:p>
        </p:txBody>
      </p:sp>
      <p:sp>
        <p:nvSpPr>
          <p:cNvPr id="10" name="Shape 8"/>
          <p:cNvSpPr/>
          <p:nvPr/>
        </p:nvSpPr>
        <p:spPr>
          <a:xfrm>
            <a:off x="685800" y="2715768"/>
            <a:ext cx="5184648" cy="1362456"/>
          </a:xfrm>
          <a:prstGeom prst="roundRect">
            <a:avLst>
              <a:gd name="adj" fmla="val 8725"/>
            </a:avLst>
          </a:prstGeom>
          <a:solidFill>
            <a:srgbClr val="F6F8F9"/>
          </a:solidFill>
          <a:ln w="8890">
            <a:solidFill>
              <a:srgbClr val="DCE5E8"/>
            </a:solidFill>
            <a:prstDash val="solid"/>
          </a:ln>
        </p:spPr>
      </p:sp>
      <p:sp>
        <p:nvSpPr>
          <p:cNvPr id="11" name="Text 9"/>
          <p:cNvSpPr/>
          <p:nvPr/>
        </p:nvSpPr>
        <p:spPr>
          <a:xfrm>
            <a:off x="896112" y="2889504"/>
            <a:ext cx="4764024" cy="365760"/>
          </a:xfrm>
          <a:prstGeom prst="rect">
            <a:avLst/>
          </a:prstGeom>
          <a:noFill/>
          <a:ln/>
        </p:spPr>
        <p:txBody>
          <a:bodyPr wrap="square" lIns="0" tIns="0" rIns="0" bIns="0" rtlCol="0" anchor="ctr">
            <a:normAutofit/>
          </a:bodyPr>
          <a:lstStyle/>
          <a:p>
            <a:pPr algn="l" indent="0" marL="0">
              <a:buNone/>
            </a:pPr>
            <a:r>
              <a:rPr lang="en-US" sz="1800" b="1" dirty="0">
                <a:solidFill>
                  <a:srgbClr val="152A3A"/>
                </a:solidFill>
                <a:latin typeface="Aptos" pitchFamily="34" charset="0"/>
                <a:ea typeface="Aptos" pitchFamily="34" charset="-122"/>
                <a:cs typeface="Aptos" pitchFamily="34" charset="-120"/>
              </a:rPr>
              <a:t>V3 VisualQuery</a:t>
            </a:r>
            <a:endParaRPr lang="en-US" sz="1800" dirty="0"/>
          </a:p>
        </p:txBody>
      </p:sp>
      <p:sp>
        <p:nvSpPr>
          <p:cNvPr id="12" name="Text 10"/>
          <p:cNvSpPr/>
          <p:nvPr/>
        </p:nvSpPr>
        <p:spPr>
          <a:xfrm>
            <a:off x="896112" y="3300984"/>
            <a:ext cx="4764024" cy="612648"/>
          </a:xfrm>
          <a:prstGeom prst="rect">
            <a:avLst/>
          </a:prstGeom>
          <a:noFill/>
          <a:ln/>
        </p:spPr>
        <p:txBody>
          <a:bodyPr wrap="square" lIns="0" tIns="0" rIns="0" bIns="0" rtlCol="0" anchor="t">
            <a:normAutofit/>
          </a:bodyPr>
          <a:lstStyle/>
          <a:p>
            <a:pPr algn="l" indent="0" marL="0">
              <a:buNone/>
            </a:pPr>
            <a:r>
              <a:rPr lang="en-US" sz="1420" dirty="0">
                <a:solidFill>
                  <a:srgbClr val="526675"/>
                </a:solidFill>
                <a:latin typeface="Aptos" pitchFamily="34" charset="0"/>
                <a:ea typeface="Aptos" pitchFamily="34" charset="-122"/>
                <a:cs typeface="Aptos" pitchFamily="34" charset="-120"/>
              </a:rPr>
              <a:t>0.50 × Bernoulli NLL  +  0.50 × cosine distance</a:t>
            </a:r>
            <a:endParaRPr lang="en-US" sz="1420" dirty="0"/>
          </a:p>
        </p:txBody>
      </p:sp>
      <p:sp>
        <p:nvSpPr>
          <p:cNvPr id="13" name="Shape 11"/>
          <p:cNvSpPr/>
          <p:nvPr/>
        </p:nvSpPr>
        <p:spPr>
          <a:xfrm>
            <a:off x="6281928" y="2715768"/>
            <a:ext cx="5184648" cy="1362456"/>
          </a:xfrm>
          <a:prstGeom prst="roundRect">
            <a:avLst>
              <a:gd name="adj" fmla="val 8725"/>
            </a:avLst>
          </a:prstGeom>
          <a:solidFill>
            <a:srgbClr val="F6F8F9"/>
          </a:solidFill>
          <a:ln w="8890">
            <a:solidFill>
              <a:srgbClr val="DCE5E8"/>
            </a:solidFill>
            <a:prstDash val="solid"/>
          </a:ln>
        </p:spPr>
      </p:sp>
      <p:sp>
        <p:nvSpPr>
          <p:cNvPr id="14" name="Text 12"/>
          <p:cNvSpPr/>
          <p:nvPr/>
        </p:nvSpPr>
        <p:spPr>
          <a:xfrm>
            <a:off x="6492240" y="2889504"/>
            <a:ext cx="4764024" cy="365760"/>
          </a:xfrm>
          <a:prstGeom prst="rect">
            <a:avLst/>
          </a:prstGeom>
          <a:noFill/>
          <a:ln/>
        </p:spPr>
        <p:txBody>
          <a:bodyPr wrap="square" lIns="0" tIns="0" rIns="0" bIns="0" rtlCol="0" anchor="ctr">
            <a:normAutofit/>
          </a:bodyPr>
          <a:lstStyle/>
          <a:p>
            <a:pPr algn="l" indent="0" marL="0">
              <a:buNone/>
            </a:pPr>
            <a:r>
              <a:rPr lang="en-US" sz="1800" b="1" dirty="0">
                <a:solidFill>
                  <a:srgbClr val="152A3A"/>
                </a:solidFill>
                <a:latin typeface="Aptos" pitchFamily="34" charset="0"/>
                <a:ea typeface="Aptos" pitchFamily="34" charset="-122"/>
                <a:cs typeface="Aptos" pitchFamily="34" charset="-120"/>
              </a:rPr>
              <a:t>CLEAN Hybrid</a:t>
            </a:r>
            <a:endParaRPr lang="en-US" sz="1800" dirty="0"/>
          </a:p>
        </p:txBody>
      </p:sp>
      <p:sp>
        <p:nvSpPr>
          <p:cNvPr id="15" name="Text 13"/>
          <p:cNvSpPr/>
          <p:nvPr/>
        </p:nvSpPr>
        <p:spPr>
          <a:xfrm>
            <a:off x="6492240" y="3300984"/>
            <a:ext cx="4764024" cy="612648"/>
          </a:xfrm>
          <a:prstGeom prst="rect">
            <a:avLst/>
          </a:prstGeom>
          <a:noFill/>
          <a:ln/>
        </p:spPr>
        <p:txBody>
          <a:bodyPr wrap="square" lIns="0" tIns="0" rIns="0" bIns="0" rtlCol="0" anchor="t">
            <a:normAutofit/>
          </a:bodyPr>
          <a:lstStyle/>
          <a:p>
            <a:pPr algn="l" indent="0" marL="0">
              <a:buNone/>
            </a:pPr>
            <a:r>
              <a:rPr lang="en-US" sz="1420" dirty="0">
                <a:solidFill>
                  <a:srgbClr val="526675"/>
                </a:solidFill>
                <a:latin typeface="Aptos" pitchFamily="34" charset="0"/>
                <a:ea typeface="Aptos" pitchFamily="34" charset="-122"/>
                <a:cs typeface="Aptos" pitchFamily="34" charset="-120"/>
              </a:rPr>
              <a:t>0.60 × binary L1  +  0.40 × cosine distance</a:t>
            </a:r>
            <a:endParaRPr lang="en-US" sz="1420" dirty="0"/>
          </a:p>
        </p:txBody>
      </p:sp>
      <p:sp>
        <p:nvSpPr>
          <p:cNvPr id="16" name="Shape 14"/>
          <p:cNvSpPr/>
          <p:nvPr/>
        </p:nvSpPr>
        <p:spPr>
          <a:xfrm>
            <a:off x="3273552" y="4105656"/>
            <a:ext cx="0" cy="438912"/>
          </a:xfrm>
          <a:prstGeom prst="line">
            <a:avLst/>
          </a:prstGeom>
          <a:noFill/>
          <a:ln w="20955">
            <a:solidFill>
              <a:srgbClr val="397D82"/>
            </a:solidFill>
            <a:prstDash val="solid"/>
            <a:headEnd type="none"/>
            <a:tailEnd type="triangle"/>
          </a:ln>
        </p:spPr>
      </p:sp>
      <p:sp>
        <p:nvSpPr>
          <p:cNvPr id="17" name="Shape 15"/>
          <p:cNvSpPr/>
          <p:nvPr/>
        </p:nvSpPr>
        <p:spPr>
          <a:xfrm>
            <a:off x="8869680" y="4105656"/>
            <a:ext cx="0" cy="438912"/>
          </a:xfrm>
          <a:prstGeom prst="line">
            <a:avLst/>
          </a:prstGeom>
          <a:noFill/>
          <a:ln w="20955">
            <a:solidFill>
              <a:srgbClr val="397D82"/>
            </a:solidFill>
            <a:prstDash val="solid"/>
            <a:headEnd type="none"/>
            <a:tailEnd type="triangle"/>
          </a:ln>
        </p:spPr>
      </p:sp>
      <p:sp>
        <p:nvSpPr>
          <p:cNvPr id="18" name="Shape 16"/>
          <p:cNvSpPr/>
          <p:nvPr/>
        </p:nvSpPr>
        <p:spPr>
          <a:xfrm>
            <a:off x="1655064" y="4626864"/>
            <a:ext cx="3227832" cy="530352"/>
          </a:xfrm>
          <a:prstGeom prst="rect">
            <a:avLst/>
          </a:prstGeom>
          <a:solidFill>
            <a:srgbClr val="EDF3F4"/>
          </a:solidFill>
          <a:ln w="12700">
            <a:solidFill>
              <a:srgbClr val="EDF3F4">
                <a:alpha val="0"/>
              </a:srgbClr>
            </a:solidFill>
            <a:prstDash val="solid"/>
          </a:ln>
        </p:spPr>
      </p:sp>
      <p:sp>
        <p:nvSpPr>
          <p:cNvPr id="19" name="Text 17"/>
          <p:cNvSpPr/>
          <p:nvPr/>
        </p:nvSpPr>
        <p:spPr>
          <a:xfrm>
            <a:off x="1792224" y="4681728"/>
            <a:ext cx="2953512" cy="384048"/>
          </a:xfrm>
          <a:prstGeom prst="rect">
            <a:avLst/>
          </a:prstGeom>
          <a:noFill/>
          <a:ln/>
        </p:spPr>
        <p:txBody>
          <a:bodyPr wrap="square" lIns="0" tIns="0" rIns="0" bIns="0" rtlCol="0" anchor="ctr">
            <a:normAutofit/>
          </a:bodyPr>
          <a:lstStyle/>
          <a:p>
            <a:pPr algn="ctr" indent="0" marL="0">
              <a:buNone/>
            </a:pPr>
            <a:r>
              <a:rPr lang="en-US" sz="1400" b="1" dirty="0">
                <a:solidFill>
                  <a:srgbClr val="275E66"/>
                </a:solidFill>
                <a:latin typeface="Aptos" pitchFamily="34" charset="0"/>
                <a:ea typeface="Aptos" pitchFamily="34" charset="-122"/>
                <a:cs typeface="Aptos" pitchFamily="34" charset="-120"/>
              </a:rPr>
              <a:t>z-score over gallery</a:t>
            </a:r>
            <a:endParaRPr lang="en-US" sz="1400" dirty="0"/>
          </a:p>
        </p:txBody>
      </p:sp>
      <p:sp>
        <p:nvSpPr>
          <p:cNvPr id="20" name="Shape 18"/>
          <p:cNvSpPr/>
          <p:nvPr/>
        </p:nvSpPr>
        <p:spPr>
          <a:xfrm>
            <a:off x="7242048" y="4626864"/>
            <a:ext cx="3236976" cy="530352"/>
          </a:xfrm>
          <a:prstGeom prst="rect">
            <a:avLst/>
          </a:prstGeom>
          <a:solidFill>
            <a:srgbClr val="EDF3F4"/>
          </a:solidFill>
          <a:ln w="12700">
            <a:solidFill>
              <a:srgbClr val="EDF3F4">
                <a:alpha val="0"/>
              </a:srgbClr>
            </a:solidFill>
            <a:prstDash val="solid"/>
          </a:ln>
        </p:spPr>
      </p:sp>
      <p:sp>
        <p:nvSpPr>
          <p:cNvPr id="21" name="Text 19"/>
          <p:cNvSpPr/>
          <p:nvPr/>
        </p:nvSpPr>
        <p:spPr>
          <a:xfrm>
            <a:off x="7370064" y="4681728"/>
            <a:ext cx="2999232" cy="384048"/>
          </a:xfrm>
          <a:prstGeom prst="rect">
            <a:avLst/>
          </a:prstGeom>
          <a:noFill/>
          <a:ln/>
        </p:spPr>
        <p:txBody>
          <a:bodyPr wrap="square" lIns="0" tIns="0" rIns="0" bIns="0" rtlCol="0" anchor="ctr">
            <a:normAutofit/>
          </a:bodyPr>
          <a:lstStyle/>
          <a:p>
            <a:pPr algn="ctr" indent="0" marL="0">
              <a:buNone/>
            </a:pPr>
            <a:r>
              <a:rPr lang="en-US" sz="1400" b="1" dirty="0">
                <a:solidFill>
                  <a:srgbClr val="275E66"/>
                </a:solidFill>
                <a:latin typeface="Aptos" pitchFamily="34" charset="0"/>
                <a:ea typeface="Aptos" pitchFamily="34" charset="-122"/>
                <a:cs typeface="Aptos" pitchFamily="34" charset="-120"/>
              </a:rPr>
              <a:t>z-score over gallery</a:t>
            </a:r>
            <a:endParaRPr lang="en-US" sz="1400" dirty="0"/>
          </a:p>
        </p:txBody>
      </p:sp>
      <p:sp>
        <p:nvSpPr>
          <p:cNvPr id="22" name="Shape 20"/>
          <p:cNvSpPr/>
          <p:nvPr/>
        </p:nvSpPr>
        <p:spPr>
          <a:xfrm>
            <a:off x="4901184" y="4882896"/>
            <a:ext cx="694944" cy="603504"/>
          </a:xfrm>
          <a:prstGeom prst="line">
            <a:avLst/>
          </a:prstGeom>
          <a:noFill/>
          <a:ln w="20955">
            <a:solidFill>
              <a:srgbClr val="397D82"/>
            </a:solidFill>
            <a:prstDash val="solid"/>
            <a:headEnd type="none"/>
            <a:tailEnd type="triangle"/>
          </a:ln>
        </p:spPr>
      </p:sp>
      <p:sp>
        <p:nvSpPr>
          <p:cNvPr id="23" name="Shape 21"/>
          <p:cNvSpPr/>
          <p:nvPr/>
        </p:nvSpPr>
        <p:spPr>
          <a:xfrm>
            <a:off x="7260336" y="4882896"/>
            <a:ext cx="-630936" cy="603504"/>
          </a:xfrm>
          <a:prstGeom prst="line">
            <a:avLst/>
          </a:prstGeom>
          <a:noFill/>
          <a:ln w="20955">
            <a:solidFill>
              <a:srgbClr val="397D82"/>
            </a:solidFill>
            <a:prstDash val="solid"/>
            <a:headEnd type="none"/>
            <a:tailEnd type="triangle"/>
          </a:ln>
        </p:spPr>
      </p:sp>
      <p:sp>
        <p:nvSpPr>
          <p:cNvPr id="24" name="Shape 22"/>
          <p:cNvSpPr/>
          <p:nvPr/>
        </p:nvSpPr>
        <p:spPr>
          <a:xfrm>
            <a:off x="4169664" y="5486400"/>
            <a:ext cx="3831336" cy="539496"/>
          </a:xfrm>
          <a:prstGeom prst="rect">
            <a:avLst/>
          </a:prstGeom>
          <a:solidFill>
            <a:srgbClr val="152A3A"/>
          </a:solidFill>
          <a:ln w="12700">
            <a:solidFill>
              <a:srgbClr val="152A3A">
                <a:alpha val="0"/>
              </a:srgbClr>
            </a:solidFill>
            <a:prstDash val="solid"/>
          </a:ln>
        </p:spPr>
      </p:sp>
      <p:sp>
        <p:nvSpPr>
          <p:cNvPr id="25" name="Text 23"/>
          <p:cNvSpPr/>
          <p:nvPr/>
        </p:nvSpPr>
        <p:spPr>
          <a:xfrm>
            <a:off x="4343400" y="5577840"/>
            <a:ext cx="3493008" cy="338328"/>
          </a:xfrm>
          <a:prstGeom prst="rect">
            <a:avLst/>
          </a:prstGeom>
          <a:noFill/>
          <a:ln/>
        </p:spPr>
        <p:txBody>
          <a:bodyPr wrap="square" lIns="0" tIns="0" rIns="0" bIns="0" rtlCol="0" anchor="ctr">
            <a:normAutofit/>
          </a:bodyPr>
          <a:lstStyle/>
          <a:p>
            <a:pPr algn="ctr" indent="0" marL="0">
              <a:buNone/>
            </a:pPr>
            <a:r>
              <a:rPr lang="en-US" sz="1610" b="1" dirty="0">
                <a:solidFill>
                  <a:srgbClr val="FFFFFF"/>
                </a:solidFill>
                <a:latin typeface="Aptos" pitchFamily="34" charset="0"/>
                <a:ea typeface="Aptos" pitchFamily="34" charset="-122"/>
                <a:cs typeface="Aptos" pitchFamily="34" charset="-120"/>
              </a:rPr>
              <a:t>65% V3  +  35% Hybrid</a:t>
            </a:r>
            <a:endParaRPr lang="en-US" sz="161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2743200" cy="228600"/>
          </a:xfrm>
          <a:prstGeom prst="rect">
            <a:avLst/>
          </a:prstGeom>
          <a:noFill/>
          <a:ln/>
        </p:spPr>
        <p:txBody>
          <a:bodyPr wrap="square" lIns="0" tIns="0" rIns="0" bIns="0" rtlCol="0" anchor="ctr">
            <a:normAutofit/>
          </a:bodyPr>
          <a:lstStyle/>
          <a:p>
            <a:pPr algn="l" indent="0" marL="0">
              <a:buNone/>
            </a:pPr>
            <a:r>
              <a:rPr lang="en-US" sz="1000" b="1" spc="135" kern="0" dirty="0">
                <a:solidFill>
                  <a:srgbClr val="768794"/>
                </a:solidFill>
                <a:latin typeface="Aptos" pitchFamily="34" charset="0"/>
                <a:ea typeface="Aptos" pitchFamily="34" charset="-122"/>
                <a:cs typeface="Aptos" pitchFamily="34" charset="-120"/>
              </a:rPr>
              <a:t>UPAR   /   TRACK 02</a:t>
            </a:r>
            <a:endParaRPr lang="en-US" sz="1000" dirty="0"/>
          </a:p>
        </p:txBody>
      </p:sp>
      <p:sp>
        <p:nvSpPr>
          <p:cNvPr id="3" name="Text 1"/>
          <p:cNvSpPr/>
          <p:nvPr/>
        </p:nvSpPr>
        <p:spPr>
          <a:xfrm>
            <a:off x="11036808" y="310896"/>
            <a:ext cx="566928" cy="219456"/>
          </a:xfrm>
          <a:prstGeom prst="rect">
            <a:avLst/>
          </a:prstGeom>
          <a:noFill/>
          <a:ln/>
        </p:spPr>
        <p:txBody>
          <a:bodyPr wrap="square" lIns="0" tIns="0" rIns="0" bIns="0" rtlCol="0" anchor="ctr">
            <a:normAutofit/>
          </a:bodyPr>
          <a:lstStyle/>
          <a:p>
            <a:pPr algn="r" indent="0" marL="0">
              <a:buNone/>
            </a:pPr>
            <a:r>
              <a:rPr lang="en-US" sz="1020" b="1" dirty="0">
                <a:solidFill>
                  <a:srgbClr val="768794"/>
                </a:solidFill>
                <a:latin typeface="Aptos" pitchFamily="34" charset="0"/>
                <a:ea typeface="Aptos" pitchFamily="34" charset="-122"/>
                <a:cs typeface="Aptos" pitchFamily="34" charset="-120"/>
              </a:rPr>
              <a:t>06</a:t>
            </a:r>
            <a:endParaRPr lang="en-US" sz="1020" dirty="0"/>
          </a:p>
        </p:txBody>
      </p:sp>
      <p:sp>
        <p:nvSpPr>
          <p:cNvPr id="4" name="Shape 2"/>
          <p:cNvSpPr/>
          <p:nvPr/>
        </p:nvSpPr>
        <p:spPr>
          <a:xfrm>
            <a:off x="566928" y="731520"/>
            <a:ext cx="11045952" cy="0"/>
          </a:xfrm>
          <a:prstGeom prst="line">
            <a:avLst/>
          </a:prstGeom>
          <a:noFill/>
          <a:ln w="10160">
            <a:solidFill>
              <a:srgbClr val="DCE5E8"/>
            </a:solidFill>
            <a:prstDash val="solid"/>
          </a:ln>
        </p:spPr>
      </p:sp>
      <p:sp>
        <p:nvSpPr>
          <p:cNvPr id="5" name="Text 3"/>
          <p:cNvSpPr/>
          <p:nvPr/>
        </p:nvSpPr>
        <p:spPr>
          <a:xfrm>
            <a:off x="603504" y="996696"/>
            <a:ext cx="8229600" cy="201168"/>
          </a:xfrm>
          <a:prstGeom prst="rect">
            <a:avLst/>
          </a:prstGeom>
          <a:noFill/>
          <a:ln/>
        </p:spPr>
        <p:txBody>
          <a:bodyPr wrap="square" lIns="0" tIns="0" rIns="0" bIns="0" rtlCol="0" anchor="ctr">
            <a:normAutofit/>
          </a:bodyPr>
          <a:lstStyle/>
          <a:p>
            <a:pPr algn="l" indent="0" marL="0">
              <a:buNone/>
            </a:pPr>
            <a:r>
              <a:rPr lang="en-US" sz="1050" b="1" spc="160" kern="0" dirty="0">
                <a:solidFill>
                  <a:srgbClr val="397D82"/>
                </a:solidFill>
                <a:latin typeface="Aptos" pitchFamily="34" charset="0"/>
                <a:ea typeface="Aptos" pitchFamily="34" charset="-122"/>
                <a:cs typeface="Aptos" pitchFamily="34" charset="-120"/>
              </a:rPr>
              <a:t>MEASURED RESULTS</a:t>
            </a:r>
            <a:endParaRPr lang="en-US" sz="1050" dirty="0"/>
          </a:p>
        </p:txBody>
      </p:sp>
      <p:sp>
        <p:nvSpPr>
          <p:cNvPr id="6" name="Text 4"/>
          <p:cNvSpPr/>
          <p:nvPr/>
        </p:nvSpPr>
        <p:spPr>
          <a:xfrm>
            <a:off x="585216" y="1353312"/>
            <a:ext cx="10927080" cy="621792"/>
          </a:xfrm>
          <a:prstGeom prst="rect">
            <a:avLst/>
          </a:prstGeom>
          <a:noFill/>
          <a:ln/>
        </p:spPr>
        <p:txBody>
          <a:bodyPr wrap="square" lIns="0" tIns="0" rIns="0" bIns="0" rtlCol="0" anchor="ctr">
            <a:normAutofit/>
          </a:bodyPr>
          <a:lstStyle/>
          <a:p>
            <a:pPr algn="l" indent="0" marL="0">
              <a:buNone/>
            </a:pPr>
            <a:r>
              <a:rPr lang="en-US" sz="2950" b="1" dirty="0">
                <a:solidFill>
                  <a:srgbClr val="152A3A"/>
                </a:solidFill>
                <a:latin typeface="Aptos" pitchFamily="34" charset="0"/>
                <a:ea typeface="Aptos" pitchFamily="34" charset="-122"/>
                <a:cs typeface="Aptos" pitchFamily="34" charset="-120"/>
              </a:rPr>
              <a:t>Public validation performance</a:t>
            </a:r>
            <a:endParaRPr lang="en-US" sz="2950" dirty="0"/>
          </a:p>
        </p:txBody>
      </p:sp>
      <p:sp>
        <p:nvSpPr>
          <p:cNvPr id="7" name="Text 5"/>
          <p:cNvSpPr/>
          <p:nvPr/>
        </p:nvSpPr>
        <p:spPr>
          <a:xfrm>
            <a:off x="603504" y="1984248"/>
            <a:ext cx="10424160" cy="457200"/>
          </a:xfrm>
          <a:prstGeom prst="rect">
            <a:avLst/>
          </a:prstGeom>
          <a:noFill/>
          <a:ln/>
        </p:spPr>
        <p:txBody>
          <a:bodyPr wrap="square" lIns="0" tIns="0" rIns="0" bIns="0" rtlCol="0" anchor="ctr">
            <a:normAutofit/>
          </a:bodyPr>
          <a:lstStyle/>
          <a:p>
            <a:pPr algn="l" indent="0" marL="0">
              <a:buNone/>
            </a:pPr>
            <a:r>
              <a:rPr lang="en-US" sz="1440" dirty="0">
                <a:solidFill>
                  <a:srgbClr val="526675"/>
                </a:solidFill>
                <a:latin typeface="Aptos" pitchFamily="34" charset="0"/>
                <a:ea typeface="Aptos" pitchFamily="34" charset="-122"/>
                <a:cs typeface="Aptos" pitchFamily="34" charset="-120"/>
              </a:rPr>
              <a:t>mADM · 3,462 queries · 33,407 gallery images · higher is better</a:t>
            </a:r>
            <a:endParaRPr lang="en-US" sz="1440" dirty="0"/>
          </a:p>
        </p:txBody>
      </p:sp>
      <p:sp>
        <p:nvSpPr>
          <p:cNvPr id="8" name="Shape 6"/>
          <p:cNvSpPr/>
          <p:nvPr/>
        </p:nvSpPr>
        <p:spPr>
          <a:xfrm>
            <a:off x="566928" y="6510528"/>
            <a:ext cx="11045952" cy="0"/>
          </a:xfrm>
          <a:prstGeom prst="line">
            <a:avLst/>
          </a:prstGeom>
          <a:noFill/>
          <a:ln w="8890">
            <a:solidFill>
              <a:srgbClr val="DCE5E8"/>
            </a:solidFill>
            <a:prstDash val="solid"/>
          </a:ln>
        </p:spPr>
      </p:sp>
      <p:sp>
        <p:nvSpPr>
          <p:cNvPr id="9" name="Text 7"/>
          <p:cNvSpPr/>
          <p:nvPr/>
        </p:nvSpPr>
        <p:spPr>
          <a:xfrm>
            <a:off x="585216" y="6547104"/>
            <a:ext cx="9144000" cy="173736"/>
          </a:xfrm>
          <a:prstGeom prst="rect">
            <a:avLst/>
          </a:prstGeom>
          <a:noFill/>
          <a:ln/>
        </p:spPr>
        <p:txBody>
          <a:bodyPr wrap="square" lIns="0" tIns="0" rIns="0" bIns="0" rtlCol="0" anchor="ctr">
            <a:normAutofit/>
          </a:bodyPr>
          <a:lstStyle/>
          <a:p>
            <a:pPr algn="l" indent="0" marL="0">
              <a:buNone/>
            </a:pPr>
            <a:r>
              <a:rPr lang="en-US" sz="820" spc="50" kern="0" dirty="0">
                <a:solidFill>
                  <a:srgbClr val="768794"/>
                </a:solidFill>
                <a:latin typeface="Aptos" pitchFamily="34" charset="0"/>
                <a:ea typeface="Aptos" pitchFamily="34" charset="-122"/>
                <a:cs typeface="Aptos" pitchFamily="34" charset="-120"/>
              </a:rPr>
              <a:t>UPAR CHALLENGE 2027  ·  ATTRIBUTE-BASED PEDESTRIAN RETRIEVAL</a:t>
            </a:r>
            <a:endParaRPr lang="en-US" sz="820" dirty="0"/>
          </a:p>
        </p:txBody>
      </p:sp>
      <p:sp>
        <p:nvSpPr>
          <p:cNvPr id="10" name="Shape 8"/>
          <p:cNvSpPr/>
          <p:nvPr/>
        </p:nvSpPr>
        <p:spPr>
          <a:xfrm>
            <a:off x="7595616" y="2615184"/>
            <a:ext cx="0" cy="3392424"/>
          </a:xfrm>
          <a:prstGeom prst="line">
            <a:avLst/>
          </a:prstGeom>
          <a:noFill/>
          <a:ln w="6350">
            <a:solidFill>
              <a:srgbClr val="DCE5E8"/>
            </a:solidFill>
            <a:prstDash val="solid"/>
          </a:ln>
        </p:spPr>
      </p:sp>
      <p:sp>
        <p:nvSpPr>
          <p:cNvPr id="11" name="Text 9"/>
          <p:cNvSpPr/>
          <p:nvPr/>
        </p:nvSpPr>
        <p:spPr>
          <a:xfrm>
            <a:off x="7403592" y="2414016"/>
            <a:ext cx="438912" cy="182880"/>
          </a:xfrm>
          <a:prstGeom prst="rect">
            <a:avLst/>
          </a:prstGeom>
          <a:noFill/>
          <a:ln/>
        </p:spPr>
        <p:txBody>
          <a:bodyPr wrap="square" lIns="0" tIns="0" rIns="0" bIns="0" rtlCol="0" anchor="ctr">
            <a:normAutofit/>
          </a:bodyPr>
          <a:lstStyle/>
          <a:p>
            <a:pPr algn="ctr" indent="0" marL="0">
              <a:buNone/>
            </a:pPr>
            <a:r>
              <a:rPr lang="en-US" sz="1000" dirty="0">
                <a:solidFill>
                  <a:srgbClr val="768794"/>
                </a:solidFill>
                <a:latin typeface="Aptos" pitchFamily="34" charset="0"/>
                <a:ea typeface="Aptos" pitchFamily="34" charset="-122"/>
                <a:cs typeface="Aptos" pitchFamily="34" charset="-120"/>
              </a:rPr>
              <a:t>50%</a:t>
            </a:r>
            <a:endParaRPr lang="en-US" sz="1000" dirty="0"/>
          </a:p>
        </p:txBody>
      </p:sp>
      <p:sp>
        <p:nvSpPr>
          <p:cNvPr id="12" name="Shape 10"/>
          <p:cNvSpPr/>
          <p:nvPr/>
        </p:nvSpPr>
        <p:spPr>
          <a:xfrm>
            <a:off x="8547811" y="2615184"/>
            <a:ext cx="0" cy="3392424"/>
          </a:xfrm>
          <a:prstGeom prst="line">
            <a:avLst/>
          </a:prstGeom>
          <a:noFill/>
          <a:ln w="6350">
            <a:solidFill>
              <a:srgbClr val="DCE5E8"/>
            </a:solidFill>
            <a:prstDash val="solid"/>
          </a:ln>
        </p:spPr>
      </p:sp>
      <p:sp>
        <p:nvSpPr>
          <p:cNvPr id="13" name="Text 11"/>
          <p:cNvSpPr/>
          <p:nvPr/>
        </p:nvSpPr>
        <p:spPr>
          <a:xfrm>
            <a:off x="8355787" y="2414016"/>
            <a:ext cx="438912" cy="182880"/>
          </a:xfrm>
          <a:prstGeom prst="rect">
            <a:avLst/>
          </a:prstGeom>
          <a:noFill/>
          <a:ln/>
        </p:spPr>
        <p:txBody>
          <a:bodyPr wrap="square" lIns="0" tIns="0" rIns="0" bIns="0" rtlCol="0" anchor="ctr">
            <a:normAutofit/>
          </a:bodyPr>
          <a:lstStyle/>
          <a:p>
            <a:pPr algn="ctr" indent="0" marL="0">
              <a:buNone/>
            </a:pPr>
            <a:r>
              <a:rPr lang="en-US" sz="1000" dirty="0">
                <a:solidFill>
                  <a:srgbClr val="768794"/>
                </a:solidFill>
                <a:latin typeface="Aptos" pitchFamily="34" charset="0"/>
                <a:ea typeface="Aptos" pitchFamily="34" charset="-122"/>
                <a:cs typeface="Aptos" pitchFamily="34" charset="-120"/>
              </a:rPr>
              <a:t>60%</a:t>
            </a:r>
            <a:endParaRPr lang="en-US" sz="1000" dirty="0"/>
          </a:p>
        </p:txBody>
      </p:sp>
      <p:sp>
        <p:nvSpPr>
          <p:cNvPr id="14" name="Shape 12"/>
          <p:cNvSpPr/>
          <p:nvPr/>
        </p:nvSpPr>
        <p:spPr>
          <a:xfrm>
            <a:off x="9500006" y="2615184"/>
            <a:ext cx="0" cy="3392424"/>
          </a:xfrm>
          <a:prstGeom prst="line">
            <a:avLst/>
          </a:prstGeom>
          <a:noFill/>
          <a:ln w="6350">
            <a:solidFill>
              <a:srgbClr val="DCE5E8"/>
            </a:solidFill>
            <a:prstDash val="solid"/>
          </a:ln>
        </p:spPr>
      </p:sp>
      <p:sp>
        <p:nvSpPr>
          <p:cNvPr id="15" name="Text 13"/>
          <p:cNvSpPr/>
          <p:nvPr/>
        </p:nvSpPr>
        <p:spPr>
          <a:xfrm>
            <a:off x="9307982" y="2414016"/>
            <a:ext cx="438912" cy="182880"/>
          </a:xfrm>
          <a:prstGeom prst="rect">
            <a:avLst/>
          </a:prstGeom>
          <a:noFill/>
          <a:ln/>
        </p:spPr>
        <p:txBody>
          <a:bodyPr wrap="square" lIns="0" tIns="0" rIns="0" bIns="0" rtlCol="0" anchor="ctr">
            <a:normAutofit/>
          </a:bodyPr>
          <a:lstStyle/>
          <a:p>
            <a:pPr algn="ctr" indent="0" marL="0">
              <a:buNone/>
            </a:pPr>
            <a:r>
              <a:rPr lang="en-US" sz="1000" dirty="0">
                <a:solidFill>
                  <a:srgbClr val="768794"/>
                </a:solidFill>
                <a:latin typeface="Aptos" pitchFamily="34" charset="0"/>
                <a:ea typeface="Aptos" pitchFamily="34" charset="-122"/>
                <a:cs typeface="Aptos" pitchFamily="34" charset="-120"/>
              </a:rPr>
              <a:t>70%</a:t>
            </a:r>
            <a:endParaRPr lang="en-US" sz="1000" dirty="0"/>
          </a:p>
        </p:txBody>
      </p:sp>
      <p:sp>
        <p:nvSpPr>
          <p:cNvPr id="16" name="Text 14"/>
          <p:cNvSpPr/>
          <p:nvPr/>
        </p:nvSpPr>
        <p:spPr>
          <a:xfrm>
            <a:off x="694944" y="2798064"/>
            <a:ext cx="2039112" cy="338328"/>
          </a:xfrm>
          <a:prstGeom prst="rect">
            <a:avLst/>
          </a:prstGeom>
          <a:noFill/>
          <a:ln/>
        </p:spPr>
        <p:txBody>
          <a:bodyPr wrap="square" lIns="0" tIns="0" rIns="0" bIns="0" rtlCol="0" anchor="ctr">
            <a:normAutofit/>
          </a:bodyPr>
          <a:lstStyle/>
          <a:p>
            <a:pPr algn="l" indent="0" marL="0">
              <a:buNone/>
            </a:pPr>
            <a:r>
              <a:rPr lang="en-US" sz="1410" dirty="0">
                <a:solidFill>
                  <a:srgbClr val="1D3040"/>
                </a:solidFill>
                <a:latin typeface="Aptos" pitchFamily="34" charset="0"/>
                <a:ea typeface="Aptos" pitchFamily="34" charset="-122"/>
                <a:cs typeface="Aptos" pitchFamily="34" charset="-120"/>
              </a:rPr>
              <a:t>ResNet-50</a:t>
            </a:r>
            <a:endParaRPr lang="en-US" sz="1410" dirty="0"/>
          </a:p>
        </p:txBody>
      </p:sp>
      <p:sp>
        <p:nvSpPr>
          <p:cNvPr id="17" name="Shape 15"/>
          <p:cNvSpPr/>
          <p:nvPr/>
        </p:nvSpPr>
        <p:spPr>
          <a:xfrm>
            <a:off x="2834640" y="2788920"/>
            <a:ext cx="7141464" cy="347472"/>
          </a:xfrm>
          <a:prstGeom prst="roundRect">
            <a:avLst>
              <a:gd name="adj" fmla="val 13158"/>
            </a:avLst>
          </a:prstGeom>
          <a:solidFill>
            <a:srgbClr val="F6F8F9"/>
          </a:solidFill>
          <a:ln w="12700">
            <a:solidFill>
              <a:srgbClr val="F6F8F9">
                <a:alpha val="0"/>
              </a:srgbClr>
            </a:solidFill>
            <a:prstDash val="solid"/>
          </a:ln>
        </p:spPr>
      </p:sp>
      <p:sp>
        <p:nvSpPr>
          <p:cNvPr id="18" name="Shape 16"/>
          <p:cNvSpPr/>
          <p:nvPr/>
        </p:nvSpPr>
        <p:spPr>
          <a:xfrm>
            <a:off x="2834640" y="2788920"/>
            <a:ext cx="5573199" cy="347472"/>
          </a:xfrm>
          <a:prstGeom prst="roundRect">
            <a:avLst>
              <a:gd name="adj" fmla="val 13158"/>
            </a:avLst>
          </a:prstGeom>
          <a:solidFill>
            <a:srgbClr val="9CB0B9"/>
          </a:solidFill>
          <a:ln w="12700">
            <a:solidFill>
              <a:srgbClr val="9CB0B9">
                <a:alpha val="0"/>
              </a:srgbClr>
            </a:solidFill>
            <a:prstDash val="solid"/>
          </a:ln>
        </p:spPr>
      </p:sp>
      <p:sp>
        <p:nvSpPr>
          <p:cNvPr id="19" name="Text 17"/>
          <p:cNvSpPr/>
          <p:nvPr/>
        </p:nvSpPr>
        <p:spPr>
          <a:xfrm>
            <a:off x="10268712" y="2784348"/>
            <a:ext cx="987552" cy="347472"/>
          </a:xfrm>
          <a:prstGeom prst="rect">
            <a:avLst/>
          </a:prstGeom>
          <a:noFill/>
          <a:ln/>
        </p:spPr>
        <p:txBody>
          <a:bodyPr wrap="square" lIns="0" tIns="0" rIns="0" bIns="0" rtlCol="0" anchor="ctr">
            <a:normAutofit/>
          </a:bodyPr>
          <a:lstStyle/>
          <a:p>
            <a:pPr algn="r" indent="0" marL="0">
              <a:buNone/>
            </a:pPr>
            <a:r>
              <a:rPr lang="en-US" sz="1600" b="1" dirty="0">
                <a:solidFill>
                  <a:srgbClr val="526675"/>
                </a:solidFill>
                <a:latin typeface="Aptos" pitchFamily="34" charset="0"/>
                <a:ea typeface="Aptos" pitchFamily="34" charset="-122"/>
                <a:cs typeface="Aptos" pitchFamily="34" charset="-120"/>
              </a:rPr>
              <a:t>58.53%</a:t>
            </a:r>
            <a:endParaRPr lang="en-US" sz="1600" dirty="0"/>
          </a:p>
        </p:txBody>
      </p:sp>
      <p:sp>
        <p:nvSpPr>
          <p:cNvPr id="20" name="Text 18"/>
          <p:cNvSpPr/>
          <p:nvPr/>
        </p:nvSpPr>
        <p:spPr>
          <a:xfrm>
            <a:off x="694944" y="3438144"/>
            <a:ext cx="2039112" cy="338328"/>
          </a:xfrm>
          <a:prstGeom prst="rect">
            <a:avLst/>
          </a:prstGeom>
          <a:noFill/>
          <a:ln/>
        </p:spPr>
        <p:txBody>
          <a:bodyPr wrap="square" lIns="0" tIns="0" rIns="0" bIns="0" rtlCol="0" anchor="ctr">
            <a:normAutofit/>
          </a:bodyPr>
          <a:lstStyle/>
          <a:p>
            <a:pPr algn="l" indent="0" marL="0">
              <a:buNone/>
            </a:pPr>
            <a:r>
              <a:rPr lang="en-US" sz="1410" dirty="0">
                <a:solidFill>
                  <a:srgbClr val="1D3040"/>
                </a:solidFill>
                <a:latin typeface="Aptos" pitchFamily="34" charset="0"/>
                <a:ea typeface="Aptos" pitchFamily="34" charset="-122"/>
                <a:cs typeface="Aptos" pitchFamily="34" charset="-120"/>
              </a:rPr>
              <a:t>ConvNeXt-Tiny</a:t>
            </a:r>
            <a:endParaRPr lang="en-US" sz="1410" dirty="0"/>
          </a:p>
        </p:txBody>
      </p:sp>
      <p:sp>
        <p:nvSpPr>
          <p:cNvPr id="21" name="Shape 19"/>
          <p:cNvSpPr/>
          <p:nvPr/>
        </p:nvSpPr>
        <p:spPr>
          <a:xfrm>
            <a:off x="2834640" y="3429000"/>
            <a:ext cx="7141464" cy="347472"/>
          </a:xfrm>
          <a:prstGeom prst="roundRect">
            <a:avLst>
              <a:gd name="adj" fmla="val 13158"/>
            </a:avLst>
          </a:prstGeom>
          <a:solidFill>
            <a:srgbClr val="F6F8F9"/>
          </a:solidFill>
          <a:ln w="12700">
            <a:solidFill>
              <a:srgbClr val="F6F8F9">
                <a:alpha val="0"/>
              </a:srgbClr>
            </a:solidFill>
            <a:prstDash val="solid"/>
          </a:ln>
        </p:spPr>
      </p:sp>
      <p:sp>
        <p:nvSpPr>
          <p:cNvPr id="22" name="Shape 20"/>
          <p:cNvSpPr/>
          <p:nvPr/>
        </p:nvSpPr>
        <p:spPr>
          <a:xfrm>
            <a:off x="2834640" y="3429000"/>
            <a:ext cx="6011208" cy="347472"/>
          </a:xfrm>
          <a:prstGeom prst="roundRect">
            <a:avLst>
              <a:gd name="adj" fmla="val 13158"/>
            </a:avLst>
          </a:prstGeom>
          <a:solidFill>
            <a:srgbClr val="9CB0B9"/>
          </a:solidFill>
          <a:ln w="12700">
            <a:solidFill>
              <a:srgbClr val="9CB0B9">
                <a:alpha val="0"/>
              </a:srgbClr>
            </a:solidFill>
            <a:prstDash val="solid"/>
          </a:ln>
        </p:spPr>
      </p:sp>
      <p:sp>
        <p:nvSpPr>
          <p:cNvPr id="23" name="Text 21"/>
          <p:cNvSpPr/>
          <p:nvPr/>
        </p:nvSpPr>
        <p:spPr>
          <a:xfrm>
            <a:off x="10268712" y="3424428"/>
            <a:ext cx="987552" cy="347472"/>
          </a:xfrm>
          <a:prstGeom prst="rect">
            <a:avLst/>
          </a:prstGeom>
          <a:noFill/>
          <a:ln/>
        </p:spPr>
        <p:txBody>
          <a:bodyPr wrap="square" lIns="0" tIns="0" rIns="0" bIns="0" rtlCol="0" anchor="ctr">
            <a:normAutofit/>
          </a:bodyPr>
          <a:lstStyle/>
          <a:p>
            <a:pPr algn="r" indent="0" marL="0">
              <a:buNone/>
            </a:pPr>
            <a:r>
              <a:rPr lang="en-US" sz="1600" b="1" dirty="0">
                <a:solidFill>
                  <a:srgbClr val="526675"/>
                </a:solidFill>
                <a:latin typeface="Aptos" pitchFamily="34" charset="0"/>
                <a:ea typeface="Aptos" pitchFamily="34" charset="-122"/>
                <a:cs typeface="Aptos" pitchFamily="34" charset="-120"/>
              </a:rPr>
              <a:t>63.13%</a:t>
            </a:r>
            <a:endParaRPr lang="en-US" sz="1600" dirty="0"/>
          </a:p>
        </p:txBody>
      </p:sp>
      <p:sp>
        <p:nvSpPr>
          <p:cNvPr id="24" name="Text 22"/>
          <p:cNvSpPr/>
          <p:nvPr/>
        </p:nvSpPr>
        <p:spPr>
          <a:xfrm>
            <a:off x="694944" y="4078224"/>
            <a:ext cx="2039112" cy="338328"/>
          </a:xfrm>
          <a:prstGeom prst="rect">
            <a:avLst/>
          </a:prstGeom>
          <a:noFill/>
          <a:ln/>
        </p:spPr>
        <p:txBody>
          <a:bodyPr wrap="square" lIns="0" tIns="0" rIns="0" bIns="0" rtlCol="0" anchor="ctr">
            <a:normAutofit/>
          </a:bodyPr>
          <a:lstStyle/>
          <a:p>
            <a:pPr algn="l" indent="0" marL="0">
              <a:buNone/>
            </a:pPr>
            <a:r>
              <a:rPr lang="en-US" sz="1410" dirty="0">
                <a:solidFill>
                  <a:srgbClr val="1D3040"/>
                </a:solidFill>
                <a:latin typeface="Aptos" pitchFamily="34" charset="0"/>
                <a:ea typeface="Aptos" pitchFamily="34" charset="-122"/>
                <a:cs typeface="Aptos" pitchFamily="34" charset="-120"/>
              </a:rPr>
              <a:t>V3 VisualQuery</a:t>
            </a:r>
            <a:endParaRPr lang="en-US" sz="1410" dirty="0"/>
          </a:p>
        </p:txBody>
      </p:sp>
      <p:sp>
        <p:nvSpPr>
          <p:cNvPr id="25" name="Shape 23"/>
          <p:cNvSpPr/>
          <p:nvPr/>
        </p:nvSpPr>
        <p:spPr>
          <a:xfrm>
            <a:off x="2834640" y="4069080"/>
            <a:ext cx="7141464" cy="347472"/>
          </a:xfrm>
          <a:prstGeom prst="roundRect">
            <a:avLst>
              <a:gd name="adj" fmla="val 13158"/>
            </a:avLst>
          </a:prstGeom>
          <a:solidFill>
            <a:srgbClr val="F6F8F9"/>
          </a:solidFill>
          <a:ln w="12700">
            <a:solidFill>
              <a:srgbClr val="F6F8F9">
                <a:alpha val="0"/>
              </a:srgbClr>
            </a:solidFill>
            <a:prstDash val="solid"/>
          </a:ln>
        </p:spPr>
      </p:sp>
      <p:sp>
        <p:nvSpPr>
          <p:cNvPr id="26" name="Shape 24"/>
          <p:cNvSpPr/>
          <p:nvPr/>
        </p:nvSpPr>
        <p:spPr>
          <a:xfrm>
            <a:off x="2834640" y="4069080"/>
            <a:ext cx="6337811" cy="347472"/>
          </a:xfrm>
          <a:prstGeom prst="roundRect">
            <a:avLst>
              <a:gd name="adj" fmla="val 13158"/>
            </a:avLst>
          </a:prstGeom>
          <a:solidFill>
            <a:srgbClr val="9CB0B9"/>
          </a:solidFill>
          <a:ln w="12700">
            <a:solidFill>
              <a:srgbClr val="9CB0B9">
                <a:alpha val="0"/>
              </a:srgbClr>
            </a:solidFill>
            <a:prstDash val="solid"/>
          </a:ln>
        </p:spPr>
      </p:sp>
      <p:sp>
        <p:nvSpPr>
          <p:cNvPr id="27" name="Text 25"/>
          <p:cNvSpPr/>
          <p:nvPr/>
        </p:nvSpPr>
        <p:spPr>
          <a:xfrm>
            <a:off x="10268712" y="4064508"/>
            <a:ext cx="987552" cy="347472"/>
          </a:xfrm>
          <a:prstGeom prst="rect">
            <a:avLst/>
          </a:prstGeom>
          <a:noFill/>
          <a:ln/>
        </p:spPr>
        <p:txBody>
          <a:bodyPr wrap="square" lIns="0" tIns="0" rIns="0" bIns="0" rtlCol="0" anchor="ctr">
            <a:normAutofit/>
          </a:bodyPr>
          <a:lstStyle/>
          <a:p>
            <a:pPr algn="r" indent="0" marL="0">
              <a:buNone/>
            </a:pPr>
            <a:r>
              <a:rPr lang="en-US" sz="1600" b="1" dirty="0">
                <a:solidFill>
                  <a:srgbClr val="526675"/>
                </a:solidFill>
                <a:latin typeface="Aptos" pitchFamily="34" charset="0"/>
                <a:ea typeface="Aptos" pitchFamily="34" charset="-122"/>
                <a:cs typeface="Aptos" pitchFamily="34" charset="-120"/>
              </a:rPr>
              <a:t>66.56%</a:t>
            </a:r>
            <a:endParaRPr lang="en-US" sz="1600" dirty="0"/>
          </a:p>
        </p:txBody>
      </p:sp>
      <p:sp>
        <p:nvSpPr>
          <p:cNvPr id="28" name="Text 26"/>
          <p:cNvSpPr/>
          <p:nvPr/>
        </p:nvSpPr>
        <p:spPr>
          <a:xfrm>
            <a:off x="694944" y="4718304"/>
            <a:ext cx="2039112" cy="338328"/>
          </a:xfrm>
          <a:prstGeom prst="rect">
            <a:avLst/>
          </a:prstGeom>
          <a:noFill/>
          <a:ln/>
        </p:spPr>
        <p:txBody>
          <a:bodyPr wrap="square" lIns="0" tIns="0" rIns="0" bIns="0" rtlCol="0" anchor="ctr">
            <a:normAutofit/>
          </a:bodyPr>
          <a:lstStyle/>
          <a:p>
            <a:pPr algn="l" indent="0" marL="0">
              <a:buNone/>
            </a:pPr>
            <a:r>
              <a:rPr lang="en-US" sz="1410" dirty="0">
                <a:solidFill>
                  <a:srgbClr val="1D3040"/>
                </a:solidFill>
                <a:latin typeface="Aptos" pitchFamily="34" charset="0"/>
                <a:ea typeface="Aptos" pitchFamily="34" charset="-122"/>
                <a:cs typeface="Aptos" pitchFamily="34" charset="-120"/>
              </a:rPr>
              <a:t>CLEAN Hybrid</a:t>
            </a:r>
            <a:endParaRPr lang="en-US" sz="1410" dirty="0"/>
          </a:p>
        </p:txBody>
      </p:sp>
      <p:sp>
        <p:nvSpPr>
          <p:cNvPr id="29" name="Shape 27"/>
          <p:cNvSpPr/>
          <p:nvPr/>
        </p:nvSpPr>
        <p:spPr>
          <a:xfrm>
            <a:off x="2834640" y="4709160"/>
            <a:ext cx="7141464" cy="347472"/>
          </a:xfrm>
          <a:prstGeom prst="roundRect">
            <a:avLst>
              <a:gd name="adj" fmla="val 13158"/>
            </a:avLst>
          </a:prstGeom>
          <a:solidFill>
            <a:srgbClr val="F6F8F9"/>
          </a:solidFill>
          <a:ln w="12700">
            <a:solidFill>
              <a:srgbClr val="F6F8F9">
                <a:alpha val="0"/>
              </a:srgbClr>
            </a:solidFill>
            <a:prstDash val="solid"/>
          </a:ln>
        </p:spPr>
      </p:sp>
      <p:sp>
        <p:nvSpPr>
          <p:cNvPr id="30" name="Shape 28"/>
          <p:cNvSpPr/>
          <p:nvPr/>
        </p:nvSpPr>
        <p:spPr>
          <a:xfrm>
            <a:off x="2834640" y="4709160"/>
            <a:ext cx="6404465" cy="347472"/>
          </a:xfrm>
          <a:prstGeom prst="roundRect">
            <a:avLst>
              <a:gd name="adj" fmla="val 13158"/>
            </a:avLst>
          </a:prstGeom>
          <a:solidFill>
            <a:srgbClr val="9CB0B9"/>
          </a:solidFill>
          <a:ln w="12700">
            <a:solidFill>
              <a:srgbClr val="9CB0B9">
                <a:alpha val="0"/>
              </a:srgbClr>
            </a:solidFill>
            <a:prstDash val="solid"/>
          </a:ln>
        </p:spPr>
      </p:sp>
      <p:sp>
        <p:nvSpPr>
          <p:cNvPr id="31" name="Text 29"/>
          <p:cNvSpPr/>
          <p:nvPr/>
        </p:nvSpPr>
        <p:spPr>
          <a:xfrm>
            <a:off x="10268712" y="4704588"/>
            <a:ext cx="987552" cy="347472"/>
          </a:xfrm>
          <a:prstGeom prst="rect">
            <a:avLst/>
          </a:prstGeom>
          <a:noFill/>
          <a:ln/>
        </p:spPr>
        <p:txBody>
          <a:bodyPr wrap="square" lIns="0" tIns="0" rIns="0" bIns="0" rtlCol="0" anchor="ctr">
            <a:normAutofit/>
          </a:bodyPr>
          <a:lstStyle/>
          <a:p>
            <a:pPr algn="r" indent="0" marL="0">
              <a:buNone/>
            </a:pPr>
            <a:r>
              <a:rPr lang="en-US" sz="1600" b="1" dirty="0">
                <a:solidFill>
                  <a:srgbClr val="526675"/>
                </a:solidFill>
                <a:latin typeface="Aptos" pitchFamily="34" charset="0"/>
                <a:ea typeface="Aptos" pitchFamily="34" charset="-122"/>
                <a:cs typeface="Aptos" pitchFamily="34" charset="-120"/>
              </a:rPr>
              <a:t>67.26%</a:t>
            </a:r>
            <a:endParaRPr lang="en-US" sz="1600" dirty="0"/>
          </a:p>
        </p:txBody>
      </p:sp>
      <p:sp>
        <p:nvSpPr>
          <p:cNvPr id="32" name="Text 30"/>
          <p:cNvSpPr/>
          <p:nvPr/>
        </p:nvSpPr>
        <p:spPr>
          <a:xfrm>
            <a:off x="694944" y="5358384"/>
            <a:ext cx="2039112" cy="338328"/>
          </a:xfrm>
          <a:prstGeom prst="rect">
            <a:avLst/>
          </a:prstGeom>
          <a:noFill/>
          <a:ln/>
        </p:spPr>
        <p:txBody>
          <a:bodyPr wrap="square" lIns="0" tIns="0" rIns="0" bIns="0" rtlCol="0" anchor="ctr">
            <a:normAutofit/>
          </a:bodyPr>
          <a:lstStyle/>
          <a:p>
            <a:pPr algn="l" indent="0" marL="0">
              <a:buNone/>
            </a:pPr>
            <a:r>
              <a:rPr lang="en-US" sz="1410" b="1" dirty="0">
                <a:solidFill>
                  <a:srgbClr val="1D3040"/>
                </a:solidFill>
                <a:latin typeface="Aptos" pitchFamily="34" charset="0"/>
                <a:ea typeface="Aptos" pitchFamily="34" charset="-122"/>
                <a:cs typeface="Aptos" pitchFamily="34" charset="-120"/>
              </a:rPr>
              <a:t>Final 65/35 ensemble</a:t>
            </a:r>
            <a:endParaRPr lang="en-US" sz="1410" dirty="0"/>
          </a:p>
        </p:txBody>
      </p:sp>
      <p:sp>
        <p:nvSpPr>
          <p:cNvPr id="33" name="Shape 31"/>
          <p:cNvSpPr/>
          <p:nvPr/>
        </p:nvSpPr>
        <p:spPr>
          <a:xfrm>
            <a:off x="2834640" y="5349240"/>
            <a:ext cx="7141464" cy="347472"/>
          </a:xfrm>
          <a:prstGeom prst="roundRect">
            <a:avLst>
              <a:gd name="adj" fmla="val 13158"/>
            </a:avLst>
          </a:prstGeom>
          <a:solidFill>
            <a:srgbClr val="F6F8F9"/>
          </a:solidFill>
          <a:ln w="12700">
            <a:solidFill>
              <a:srgbClr val="F6F8F9">
                <a:alpha val="0"/>
              </a:srgbClr>
            </a:solidFill>
            <a:prstDash val="solid"/>
          </a:ln>
        </p:spPr>
      </p:sp>
      <p:sp>
        <p:nvSpPr>
          <p:cNvPr id="34" name="Shape 32"/>
          <p:cNvSpPr/>
          <p:nvPr/>
        </p:nvSpPr>
        <p:spPr>
          <a:xfrm>
            <a:off x="2834640" y="5349240"/>
            <a:ext cx="6630135" cy="347472"/>
          </a:xfrm>
          <a:prstGeom prst="roundRect">
            <a:avLst>
              <a:gd name="adj" fmla="val 13158"/>
            </a:avLst>
          </a:prstGeom>
          <a:solidFill>
            <a:srgbClr val="275E66"/>
          </a:solidFill>
          <a:ln w="12700">
            <a:solidFill>
              <a:srgbClr val="275E66">
                <a:alpha val="0"/>
              </a:srgbClr>
            </a:solidFill>
            <a:prstDash val="solid"/>
          </a:ln>
        </p:spPr>
      </p:sp>
      <p:sp>
        <p:nvSpPr>
          <p:cNvPr id="35" name="Text 33"/>
          <p:cNvSpPr/>
          <p:nvPr/>
        </p:nvSpPr>
        <p:spPr>
          <a:xfrm>
            <a:off x="10268712" y="5344668"/>
            <a:ext cx="987552" cy="347472"/>
          </a:xfrm>
          <a:prstGeom prst="rect">
            <a:avLst/>
          </a:prstGeom>
          <a:noFill/>
          <a:ln/>
        </p:spPr>
        <p:txBody>
          <a:bodyPr wrap="square" lIns="0" tIns="0" rIns="0" bIns="0" rtlCol="0" anchor="ctr">
            <a:normAutofit/>
          </a:bodyPr>
          <a:lstStyle/>
          <a:p>
            <a:pPr algn="r" indent="0" marL="0">
              <a:buNone/>
            </a:pPr>
            <a:r>
              <a:rPr lang="en-US" sz="1600" b="1" dirty="0">
                <a:solidFill>
                  <a:srgbClr val="275E66"/>
                </a:solidFill>
                <a:latin typeface="Aptos" pitchFamily="34" charset="0"/>
                <a:ea typeface="Aptos" pitchFamily="34" charset="-122"/>
                <a:cs typeface="Aptos" pitchFamily="34" charset="-120"/>
              </a:rPr>
              <a:t>69.63%</a:t>
            </a:r>
            <a:endParaRPr lang="en-US" sz="1600" dirty="0"/>
          </a:p>
        </p:txBody>
      </p:sp>
      <p:sp>
        <p:nvSpPr>
          <p:cNvPr id="36" name="Text 34"/>
          <p:cNvSpPr/>
          <p:nvPr/>
        </p:nvSpPr>
        <p:spPr>
          <a:xfrm>
            <a:off x="685800" y="6181344"/>
            <a:ext cx="10972800" cy="182880"/>
          </a:xfrm>
          <a:prstGeom prst="rect">
            <a:avLst/>
          </a:prstGeom>
          <a:noFill/>
          <a:ln/>
        </p:spPr>
        <p:txBody>
          <a:bodyPr wrap="square" lIns="0" tIns="0" rIns="0" bIns="0" rtlCol="0" anchor="ctr">
            <a:normAutofit/>
          </a:bodyPr>
          <a:lstStyle/>
          <a:p>
            <a:pPr algn="l" indent="0" marL="0">
              <a:buNone/>
            </a:pPr>
            <a:r>
              <a:rPr lang="en-US" sz="1040" i="1" dirty="0">
                <a:solidFill>
                  <a:srgbClr val="526675"/>
                </a:solidFill>
                <a:latin typeface="Aptos" pitchFamily="34" charset="0"/>
                <a:ea typeface="Aptos" pitchFamily="34" charset="-122"/>
                <a:cs typeface="Aptos" pitchFamily="34" charset="-120"/>
              </a:rPr>
              <a:t>The ensemble is +2.37 percentage points above CLEAN Hybrid on the same full validation set.</a:t>
            </a:r>
            <a:endParaRPr lang="en-US" sz="104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2743200" cy="228600"/>
          </a:xfrm>
          <a:prstGeom prst="rect">
            <a:avLst/>
          </a:prstGeom>
          <a:noFill/>
          <a:ln/>
        </p:spPr>
        <p:txBody>
          <a:bodyPr wrap="square" lIns="0" tIns="0" rIns="0" bIns="0" rtlCol="0" anchor="ctr">
            <a:normAutofit/>
          </a:bodyPr>
          <a:lstStyle/>
          <a:p>
            <a:pPr algn="l" indent="0" marL="0">
              <a:buNone/>
            </a:pPr>
            <a:r>
              <a:rPr lang="en-US" sz="1000" b="1" spc="135" kern="0" dirty="0">
                <a:solidFill>
                  <a:srgbClr val="768794"/>
                </a:solidFill>
                <a:latin typeface="Aptos" pitchFamily="34" charset="0"/>
                <a:ea typeface="Aptos" pitchFamily="34" charset="-122"/>
                <a:cs typeface="Aptos" pitchFamily="34" charset="-120"/>
              </a:rPr>
              <a:t>UPAR   /   TRACK 02</a:t>
            </a:r>
            <a:endParaRPr lang="en-US" sz="1000" dirty="0"/>
          </a:p>
        </p:txBody>
      </p:sp>
      <p:sp>
        <p:nvSpPr>
          <p:cNvPr id="3" name="Text 1"/>
          <p:cNvSpPr/>
          <p:nvPr/>
        </p:nvSpPr>
        <p:spPr>
          <a:xfrm>
            <a:off x="11036808" y="310896"/>
            <a:ext cx="566928" cy="219456"/>
          </a:xfrm>
          <a:prstGeom prst="rect">
            <a:avLst/>
          </a:prstGeom>
          <a:noFill/>
          <a:ln/>
        </p:spPr>
        <p:txBody>
          <a:bodyPr wrap="square" lIns="0" tIns="0" rIns="0" bIns="0" rtlCol="0" anchor="ctr">
            <a:normAutofit/>
          </a:bodyPr>
          <a:lstStyle/>
          <a:p>
            <a:pPr algn="r" indent="0" marL="0">
              <a:buNone/>
            </a:pPr>
            <a:r>
              <a:rPr lang="en-US" sz="1020" b="1" dirty="0">
                <a:solidFill>
                  <a:srgbClr val="768794"/>
                </a:solidFill>
                <a:latin typeface="Aptos" pitchFamily="34" charset="0"/>
                <a:ea typeface="Aptos" pitchFamily="34" charset="-122"/>
                <a:cs typeface="Aptos" pitchFamily="34" charset="-120"/>
              </a:rPr>
              <a:t>07</a:t>
            </a:r>
            <a:endParaRPr lang="en-US" sz="1020" dirty="0"/>
          </a:p>
        </p:txBody>
      </p:sp>
      <p:sp>
        <p:nvSpPr>
          <p:cNvPr id="4" name="Shape 2"/>
          <p:cNvSpPr/>
          <p:nvPr/>
        </p:nvSpPr>
        <p:spPr>
          <a:xfrm>
            <a:off x="566928" y="731520"/>
            <a:ext cx="11045952" cy="0"/>
          </a:xfrm>
          <a:prstGeom prst="line">
            <a:avLst/>
          </a:prstGeom>
          <a:noFill/>
          <a:ln w="10160">
            <a:solidFill>
              <a:srgbClr val="DCE5E8"/>
            </a:solidFill>
            <a:prstDash val="solid"/>
          </a:ln>
        </p:spPr>
      </p:sp>
      <p:sp>
        <p:nvSpPr>
          <p:cNvPr id="5" name="Text 3"/>
          <p:cNvSpPr/>
          <p:nvPr/>
        </p:nvSpPr>
        <p:spPr>
          <a:xfrm>
            <a:off x="603504" y="996696"/>
            <a:ext cx="8229600" cy="201168"/>
          </a:xfrm>
          <a:prstGeom prst="rect">
            <a:avLst/>
          </a:prstGeom>
          <a:noFill/>
          <a:ln/>
        </p:spPr>
        <p:txBody>
          <a:bodyPr wrap="square" lIns="0" tIns="0" rIns="0" bIns="0" rtlCol="0" anchor="ctr">
            <a:normAutofit/>
          </a:bodyPr>
          <a:lstStyle/>
          <a:p>
            <a:pPr algn="l" indent="0" marL="0">
              <a:buNone/>
            </a:pPr>
            <a:r>
              <a:rPr lang="en-US" sz="1050" b="1" spc="160" kern="0" dirty="0">
                <a:solidFill>
                  <a:srgbClr val="397D82"/>
                </a:solidFill>
                <a:latin typeface="Aptos" pitchFamily="34" charset="0"/>
                <a:ea typeface="Aptos" pitchFamily="34" charset="-122"/>
                <a:cs typeface="Aptos" pitchFamily="34" charset="-120"/>
              </a:rPr>
              <a:t>ERROR ANALYSIS</a:t>
            </a:r>
            <a:endParaRPr lang="en-US" sz="1050" dirty="0"/>
          </a:p>
        </p:txBody>
      </p:sp>
      <p:sp>
        <p:nvSpPr>
          <p:cNvPr id="6" name="Text 4"/>
          <p:cNvSpPr/>
          <p:nvPr/>
        </p:nvSpPr>
        <p:spPr>
          <a:xfrm>
            <a:off x="585216" y="1353312"/>
            <a:ext cx="10927080" cy="621792"/>
          </a:xfrm>
          <a:prstGeom prst="rect">
            <a:avLst/>
          </a:prstGeom>
          <a:noFill/>
          <a:ln/>
        </p:spPr>
        <p:txBody>
          <a:bodyPr wrap="square" lIns="0" tIns="0" rIns="0" bIns="0" rtlCol="0" anchor="ctr">
            <a:normAutofit/>
          </a:bodyPr>
          <a:lstStyle/>
          <a:p>
            <a:pPr algn="l" indent="0" marL="0">
              <a:buNone/>
            </a:pPr>
            <a:r>
              <a:rPr lang="en-US" sz="2950" b="1" dirty="0">
                <a:solidFill>
                  <a:srgbClr val="152A3A"/>
                </a:solidFill>
                <a:latin typeface="Aptos" pitchFamily="34" charset="0"/>
                <a:ea typeface="Aptos" pitchFamily="34" charset="-122"/>
                <a:cs typeface="Aptos" pitchFamily="34" charset="-120"/>
              </a:rPr>
              <a:t>What limited performance?</a:t>
            </a:r>
            <a:endParaRPr lang="en-US" sz="2950" dirty="0"/>
          </a:p>
        </p:txBody>
      </p:sp>
      <p:sp>
        <p:nvSpPr>
          <p:cNvPr id="7" name="Text 5"/>
          <p:cNvSpPr/>
          <p:nvPr/>
        </p:nvSpPr>
        <p:spPr>
          <a:xfrm>
            <a:off x="603504" y="1984248"/>
            <a:ext cx="10424160" cy="457200"/>
          </a:xfrm>
          <a:prstGeom prst="rect">
            <a:avLst/>
          </a:prstGeom>
          <a:noFill/>
          <a:ln/>
        </p:spPr>
        <p:txBody>
          <a:bodyPr wrap="square" lIns="0" tIns="0" rIns="0" bIns="0" rtlCol="0" anchor="ctr">
            <a:normAutofit/>
          </a:bodyPr>
          <a:lstStyle/>
          <a:p>
            <a:pPr algn="l" indent="0" marL="0">
              <a:buNone/>
            </a:pPr>
            <a:r>
              <a:rPr lang="en-US" sz="1440" dirty="0">
                <a:solidFill>
                  <a:srgbClr val="526675"/>
                </a:solidFill>
                <a:latin typeface="Aptos" pitchFamily="34" charset="0"/>
                <a:ea typeface="Aptos" pitchFamily="34" charset="-122"/>
                <a:cs typeface="Aptos" pitchFamily="34" charset="-120"/>
              </a:rPr>
              <a:t>The main bottleneck remained recognizing fine-grained attributes.</a:t>
            </a:r>
            <a:endParaRPr lang="en-US" sz="1440" dirty="0"/>
          </a:p>
        </p:txBody>
      </p:sp>
      <p:sp>
        <p:nvSpPr>
          <p:cNvPr id="8" name="Shape 6"/>
          <p:cNvSpPr/>
          <p:nvPr/>
        </p:nvSpPr>
        <p:spPr>
          <a:xfrm>
            <a:off x="566928" y="6510528"/>
            <a:ext cx="11045952" cy="0"/>
          </a:xfrm>
          <a:prstGeom prst="line">
            <a:avLst/>
          </a:prstGeom>
          <a:noFill/>
          <a:ln w="8890">
            <a:solidFill>
              <a:srgbClr val="DCE5E8"/>
            </a:solidFill>
            <a:prstDash val="solid"/>
          </a:ln>
        </p:spPr>
      </p:sp>
      <p:sp>
        <p:nvSpPr>
          <p:cNvPr id="9" name="Text 7"/>
          <p:cNvSpPr/>
          <p:nvPr/>
        </p:nvSpPr>
        <p:spPr>
          <a:xfrm>
            <a:off x="585216" y="6547104"/>
            <a:ext cx="9144000" cy="173736"/>
          </a:xfrm>
          <a:prstGeom prst="rect">
            <a:avLst/>
          </a:prstGeom>
          <a:noFill/>
          <a:ln/>
        </p:spPr>
        <p:txBody>
          <a:bodyPr wrap="square" lIns="0" tIns="0" rIns="0" bIns="0" rtlCol="0" anchor="ctr">
            <a:normAutofit/>
          </a:bodyPr>
          <a:lstStyle/>
          <a:p>
            <a:pPr algn="l" indent="0" marL="0">
              <a:buNone/>
            </a:pPr>
            <a:r>
              <a:rPr lang="en-US" sz="820" spc="50" kern="0" dirty="0">
                <a:solidFill>
                  <a:srgbClr val="768794"/>
                </a:solidFill>
                <a:latin typeface="Aptos" pitchFamily="34" charset="0"/>
                <a:ea typeface="Aptos" pitchFamily="34" charset="-122"/>
                <a:cs typeface="Aptos" pitchFamily="34" charset="-120"/>
              </a:rPr>
              <a:t>UPAR CHALLENGE 2027  ·  ATTRIBUTE-BASED PEDESTRIAN RETRIEVAL</a:t>
            </a:r>
            <a:endParaRPr lang="en-US" sz="820" dirty="0"/>
          </a:p>
        </p:txBody>
      </p:sp>
      <p:sp>
        <p:nvSpPr>
          <p:cNvPr id="10" name="Shape 8"/>
          <p:cNvSpPr/>
          <p:nvPr/>
        </p:nvSpPr>
        <p:spPr>
          <a:xfrm>
            <a:off x="704088" y="2761488"/>
            <a:ext cx="4910328" cy="1527048"/>
          </a:xfrm>
          <a:prstGeom prst="roundRect">
            <a:avLst>
              <a:gd name="adj" fmla="val 4790"/>
            </a:avLst>
          </a:prstGeom>
          <a:solidFill>
            <a:srgbClr val="F6F8F9"/>
          </a:solidFill>
          <a:ln w="8890">
            <a:solidFill>
              <a:srgbClr val="DCE5E8"/>
            </a:solidFill>
            <a:prstDash val="solid"/>
          </a:ln>
        </p:spPr>
      </p:sp>
      <p:sp>
        <p:nvSpPr>
          <p:cNvPr id="11" name="Text 9"/>
          <p:cNvSpPr/>
          <p:nvPr/>
        </p:nvSpPr>
        <p:spPr>
          <a:xfrm>
            <a:off x="987552" y="2935224"/>
            <a:ext cx="1993392" cy="640080"/>
          </a:xfrm>
          <a:prstGeom prst="rect">
            <a:avLst/>
          </a:prstGeom>
          <a:noFill/>
          <a:ln/>
        </p:spPr>
        <p:txBody>
          <a:bodyPr wrap="square" lIns="0" tIns="0" rIns="0" bIns="0" rtlCol="0" anchor="ctr">
            <a:normAutofit/>
          </a:bodyPr>
          <a:lstStyle/>
          <a:p>
            <a:pPr algn="l" indent="0" marL="0">
              <a:buNone/>
            </a:pPr>
            <a:r>
              <a:rPr lang="en-US" sz="3750" b="1" dirty="0">
                <a:solidFill>
                  <a:srgbClr val="152A3A"/>
                </a:solidFill>
                <a:latin typeface="Aptos" pitchFamily="34" charset="0"/>
                <a:ea typeface="Aptos" pitchFamily="34" charset="-122"/>
                <a:cs typeface="Aptos" pitchFamily="34" charset="-120"/>
              </a:rPr>
              <a:t>2.38</a:t>
            </a:r>
            <a:endParaRPr lang="en-US" sz="3750" dirty="0"/>
          </a:p>
        </p:txBody>
      </p:sp>
      <p:sp>
        <p:nvSpPr>
          <p:cNvPr id="12" name="Text 10"/>
          <p:cNvSpPr/>
          <p:nvPr/>
        </p:nvSpPr>
        <p:spPr>
          <a:xfrm>
            <a:off x="996696" y="3712464"/>
            <a:ext cx="4261104" cy="310896"/>
          </a:xfrm>
          <a:prstGeom prst="rect">
            <a:avLst/>
          </a:prstGeom>
          <a:noFill/>
          <a:ln/>
        </p:spPr>
        <p:txBody>
          <a:bodyPr wrap="square" lIns="0" tIns="0" rIns="0" bIns="0" rtlCol="0" anchor="ctr">
            <a:normAutofit/>
          </a:bodyPr>
          <a:lstStyle/>
          <a:p>
            <a:pPr algn="l" indent="0" marL="0">
              <a:buNone/>
            </a:pPr>
            <a:r>
              <a:rPr lang="en-US" sz="1340" dirty="0">
                <a:solidFill>
                  <a:srgbClr val="526675"/>
                </a:solidFill>
                <a:latin typeface="Aptos" pitchFamily="34" charset="0"/>
                <a:ea typeface="Aptos" pitchFamily="34" charset="-122"/>
                <a:cs typeface="Aptos" pitchFamily="34" charset="-120"/>
              </a:rPr>
              <a:t>incorrect attributes / image</a:t>
            </a:r>
            <a:endParaRPr lang="en-US" sz="1340" dirty="0"/>
          </a:p>
        </p:txBody>
      </p:sp>
      <p:sp>
        <p:nvSpPr>
          <p:cNvPr id="13" name="Shape 11"/>
          <p:cNvSpPr/>
          <p:nvPr/>
        </p:nvSpPr>
        <p:spPr>
          <a:xfrm>
            <a:off x="5843016" y="2761488"/>
            <a:ext cx="4910328" cy="1527048"/>
          </a:xfrm>
          <a:prstGeom prst="roundRect">
            <a:avLst>
              <a:gd name="adj" fmla="val 4790"/>
            </a:avLst>
          </a:prstGeom>
          <a:solidFill>
            <a:srgbClr val="F6F8F9"/>
          </a:solidFill>
          <a:ln w="8890">
            <a:solidFill>
              <a:srgbClr val="DCE5E8"/>
            </a:solidFill>
            <a:prstDash val="solid"/>
          </a:ln>
        </p:spPr>
      </p:sp>
      <p:sp>
        <p:nvSpPr>
          <p:cNvPr id="14" name="Text 12"/>
          <p:cNvSpPr/>
          <p:nvPr/>
        </p:nvSpPr>
        <p:spPr>
          <a:xfrm>
            <a:off x="6126480" y="2935224"/>
            <a:ext cx="3127248" cy="640080"/>
          </a:xfrm>
          <a:prstGeom prst="rect">
            <a:avLst/>
          </a:prstGeom>
          <a:noFill/>
          <a:ln/>
        </p:spPr>
        <p:txBody>
          <a:bodyPr wrap="square" lIns="0" tIns="0" rIns="0" bIns="0" rtlCol="0" anchor="ctr">
            <a:normAutofit/>
          </a:bodyPr>
          <a:lstStyle/>
          <a:p>
            <a:pPr algn="l" indent="0" marL="0">
              <a:buNone/>
            </a:pPr>
            <a:r>
              <a:rPr lang="en-US" sz="3750" b="1" dirty="0">
                <a:solidFill>
                  <a:srgbClr val="152A3A"/>
                </a:solidFill>
                <a:latin typeface="Aptos" pitchFamily="34" charset="0"/>
                <a:ea typeface="Aptos" pitchFamily="34" charset="-122"/>
                <a:cs typeface="Aptos" pitchFamily="34" charset="-120"/>
              </a:rPr>
              <a:t>20.18%</a:t>
            </a:r>
            <a:endParaRPr lang="en-US" sz="3750" dirty="0"/>
          </a:p>
        </p:txBody>
      </p:sp>
      <p:sp>
        <p:nvSpPr>
          <p:cNvPr id="15" name="Text 13"/>
          <p:cNvSpPr/>
          <p:nvPr/>
        </p:nvSpPr>
        <p:spPr>
          <a:xfrm>
            <a:off x="6126480" y="3712464"/>
            <a:ext cx="4462272" cy="310896"/>
          </a:xfrm>
          <a:prstGeom prst="rect">
            <a:avLst/>
          </a:prstGeom>
          <a:noFill/>
          <a:ln/>
        </p:spPr>
        <p:txBody>
          <a:bodyPr wrap="square" lIns="0" tIns="0" rIns="0" bIns="0" rtlCol="0" anchor="ctr">
            <a:normAutofit/>
          </a:bodyPr>
          <a:lstStyle/>
          <a:p>
            <a:pPr algn="l" indent="0" marL="0">
              <a:buNone/>
            </a:pPr>
            <a:r>
              <a:rPr lang="en-US" sz="1310" dirty="0">
                <a:solidFill>
                  <a:srgbClr val="526675"/>
                </a:solidFill>
                <a:latin typeface="Aptos" pitchFamily="34" charset="0"/>
                <a:ea typeface="Aptos" pitchFamily="34" charset="-122"/>
                <a:cs typeface="Aptos" pitchFamily="34" charset="-120"/>
              </a:rPr>
              <a:t>images with all 40 attributes correct</a:t>
            </a:r>
            <a:endParaRPr lang="en-US" sz="1310" dirty="0"/>
          </a:p>
        </p:txBody>
      </p:sp>
      <p:sp>
        <p:nvSpPr>
          <p:cNvPr id="16" name="Text 14"/>
          <p:cNvSpPr/>
          <p:nvPr/>
        </p:nvSpPr>
        <p:spPr>
          <a:xfrm>
            <a:off x="713232" y="4873752"/>
            <a:ext cx="3657600" cy="219456"/>
          </a:xfrm>
          <a:prstGeom prst="rect">
            <a:avLst/>
          </a:prstGeom>
          <a:noFill/>
          <a:ln/>
        </p:spPr>
        <p:txBody>
          <a:bodyPr wrap="square" lIns="0" tIns="0" rIns="0" bIns="0" rtlCol="0" anchor="ctr">
            <a:normAutofit/>
          </a:bodyPr>
          <a:lstStyle/>
          <a:p>
            <a:pPr algn="l" indent="0" marL="0">
              <a:buNone/>
            </a:pPr>
            <a:r>
              <a:rPr lang="en-US" sz="1100" b="1" spc="100" kern="0" dirty="0">
                <a:solidFill>
                  <a:srgbClr val="397D82"/>
                </a:solidFill>
                <a:latin typeface="Aptos" pitchFamily="34" charset="0"/>
                <a:ea typeface="Aptos" pitchFamily="34" charset="-122"/>
                <a:cs typeface="Aptos" pitchFamily="34" charset="-120"/>
              </a:rPr>
              <a:t>DIFFICULT CASES</a:t>
            </a:r>
            <a:endParaRPr lang="en-US" sz="1100" dirty="0"/>
          </a:p>
        </p:txBody>
      </p:sp>
      <p:sp>
        <p:nvSpPr>
          <p:cNvPr id="17" name="Shape 15"/>
          <p:cNvSpPr/>
          <p:nvPr/>
        </p:nvSpPr>
        <p:spPr>
          <a:xfrm>
            <a:off x="722376" y="5257800"/>
            <a:ext cx="4846320" cy="320040"/>
          </a:xfrm>
          <a:prstGeom prst="roundRect">
            <a:avLst>
              <a:gd name="adj" fmla="val 45714"/>
            </a:avLst>
          </a:prstGeom>
          <a:solidFill>
            <a:srgbClr val="EDF3F4"/>
          </a:solidFill>
          <a:ln w="12700">
            <a:solidFill>
              <a:srgbClr val="EDF3F4">
                <a:alpha val="0"/>
              </a:srgbClr>
            </a:solidFill>
            <a:prstDash val="solid"/>
          </a:ln>
        </p:spPr>
      </p:sp>
      <p:sp>
        <p:nvSpPr>
          <p:cNvPr id="18" name="Text 16"/>
          <p:cNvSpPr/>
          <p:nvPr/>
        </p:nvSpPr>
        <p:spPr>
          <a:xfrm>
            <a:off x="832104" y="5276088"/>
            <a:ext cx="4626864" cy="274320"/>
          </a:xfrm>
          <a:prstGeom prst="rect">
            <a:avLst/>
          </a:prstGeom>
          <a:noFill/>
          <a:ln/>
        </p:spPr>
        <p:txBody>
          <a:bodyPr wrap="square" lIns="0" tIns="0" rIns="0" bIns="0" rtlCol="0" anchor="ctr">
            <a:normAutofit/>
          </a:bodyPr>
          <a:lstStyle/>
          <a:p>
            <a:pPr algn="ctr" indent="0" marL="0">
              <a:buNone/>
            </a:pPr>
            <a:r>
              <a:rPr lang="en-US" sz="1050" b="1" dirty="0">
                <a:solidFill>
                  <a:srgbClr val="526675"/>
                </a:solidFill>
                <a:latin typeface="Aptos" pitchFamily="34" charset="0"/>
                <a:ea typeface="Aptos" pitchFamily="34" charset="-122"/>
                <a:cs typeface="Aptos" pitchFamily="34" charset="-120"/>
              </a:rPr>
              <a:t>Bags &amp; backpacks</a:t>
            </a:r>
            <a:endParaRPr lang="en-US" sz="1050" dirty="0"/>
          </a:p>
        </p:txBody>
      </p:sp>
      <p:sp>
        <p:nvSpPr>
          <p:cNvPr id="19" name="Shape 17"/>
          <p:cNvSpPr/>
          <p:nvPr/>
        </p:nvSpPr>
        <p:spPr>
          <a:xfrm>
            <a:off x="5998464" y="5257800"/>
            <a:ext cx="4846320" cy="320040"/>
          </a:xfrm>
          <a:prstGeom prst="roundRect">
            <a:avLst>
              <a:gd name="adj" fmla="val 45714"/>
            </a:avLst>
          </a:prstGeom>
          <a:solidFill>
            <a:srgbClr val="EDF3F4"/>
          </a:solidFill>
          <a:ln w="12700">
            <a:solidFill>
              <a:srgbClr val="EDF3F4">
                <a:alpha val="0"/>
              </a:srgbClr>
            </a:solidFill>
            <a:prstDash val="solid"/>
          </a:ln>
        </p:spPr>
      </p:sp>
      <p:sp>
        <p:nvSpPr>
          <p:cNvPr id="20" name="Text 18"/>
          <p:cNvSpPr/>
          <p:nvPr/>
        </p:nvSpPr>
        <p:spPr>
          <a:xfrm>
            <a:off x="6108192" y="5276088"/>
            <a:ext cx="4626864" cy="274320"/>
          </a:xfrm>
          <a:prstGeom prst="rect">
            <a:avLst/>
          </a:prstGeom>
          <a:noFill/>
          <a:ln/>
        </p:spPr>
        <p:txBody>
          <a:bodyPr wrap="square" lIns="0" tIns="0" rIns="0" bIns="0" rtlCol="0" anchor="ctr">
            <a:normAutofit/>
          </a:bodyPr>
          <a:lstStyle/>
          <a:p>
            <a:pPr algn="ctr" indent="0" marL="0">
              <a:buNone/>
            </a:pPr>
            <a:r>
              <a:rPr lang="en-US" sz="1050" b="1" dirty="0">
                <a:solidFill>
                  <a:srgbClr val="526675"/>
                </a:solidFill>
                <a:latin typeface="Aptos" pitchFamily="34" charset="0"/>
                <a:ea typeface="Aptos" pitchFamily="34" charset="-122"/>
                <a:cs typeface="Aptos" pitchFamily="34" charset="-120"/>
              </a:rPr>
              <a:t>Normal glasses</a:t>
            </a:r>
            <a:endParaRPr lang="en-US" sz="1050" dirty="0"/>
          </a:p>
        </p:txBody>
      </p:sp>
      <p:sp>
        <p:nvSpPr>
          <p:cNvPr id="21" name="Shape 19"/>
          <p:cNvSpPr/>
          <p:nvPr/>
        </p:nvSpPr>
        <p:spPr>
          <a:xfrm>
            <a:off x="722376" y="5705856"/>
            <a:ext cx="4846320" cy="320040"/>
          </a:xfrm>
          <a:prstGeom prst="roundRect">
            <a:avLst>
              <a:gd name="adj" fmla="val 45714"/>
            </a:avLst>
          </a:prstGeom>
          <a:solidFill>
            <a:srgbClr val="EDF3F4"/>
          </a:solidFill>
          <a:ln w="12700">
            <a:solidFill>
              <a:srgbClr val="EDF3F4">
                <a:alpha val="0"/>
              </a:srgbClr>
            </a:solidFill>
            <a:prstDash val="solid"/>
          </a:ln>
        </p:spPr>
      </p:sp>
      <p:sp>
        <p:nvSpPr>
          <p:cNvPr id="22" name="Text 20"/>
          <p:cNvSpPr/>
          <p:nvPr/>
        </p:nvSpPr>
        <p:spPr>
          <a:xfrm>
            <a:off x="832104" y="5724144"/>
            <a:ext cx="4626864" cy="274320"/>
          </a:xfrm>
          <a:prstGeom prst="rect">
            <a:avLst/>
          </a:prstGeom>
          <a:noFill/>
          <a:ln/>
        </p:spPr>
        <p:txBody>
          <a:bodyPr wrap="square" lIns="0" tIns="0" rIns="0" bIns="0" rtlCol="0" anchor="ctr">
            <a:normAutofit/>
          </a:bodyPr>
          <a:lstStyle/>
          <a:p>
            <a:pPr algn="ctr" indent="0" marL="0">
              <a:buNone/>
            </a:pPr>
            <a:r>
              <a:rPr lang="en-US" sz="1050" b="1" dirty="0">
                <a:solidFill>
                  <a:srgbClr val="526675"/>
                </a:solidFill>
                <a:latin typeface="Aptos" pitchFamily="34" charset="0"/>
                <a:ea typeface="Aptos" pitchFamily="34" charset="-122"/>
                <a:cs typeface="Aptos" pitchFamily="34" charset="-120"/>
              </a:rPr>
              <a:t>Lower-body clothing colors</a:t>
            </a:r>
            <a:endParaRPr lang="en-US" sz="1050" dirty="0"/>
          </a:p>
        </p:txBody>
      </p:sp>
      <p:sp>
        <p:nvSpPr>
          <p:cNvPr id="23" name="Shape 21"/>
          <p:cNvSpPr/>
          <p:nvPr/>
        </p:nvSpPr>
        <p:spPr>
          <a:xfrm>
            <a:off x="5998464" y="5705856"/>
            <a:ext cx="4846320" cy="320040"/>
          </a:xfrm>
          <a:prstGeom prst="roundRect">
            <a:avLst>
              <a:gd name="adj" fmla="val 45714"/>
            </a:avLst>
          </a:prstGeom>
          <a:solidFill>
            <a:srgbClr val="EDF3F4"/>
          </a:solidFill>
          <a:ln w="12700">
            <a:solidFill>
              <a:srgbClr val="EDF3F4">
                <a:alpha val="0"/>
              </a:srgbClr>
            </a:solidFill>
            <a:prstDash val="solid"/>
          </a:ln>
        </p:spPr>
      </p:sp>
      <p:sp>
        <p:nvSpPr>
          <p:cNvPr id="24" name="Text 22"/>
          <p:cNvSpPr/>
          <p:nvPr/>
        </p:nvSpPr>
        <p:spPr>
          <a:xfrm>
            <a:off x="6108192" y="5724144"/>
            <a:ext cx="4626864" cy="274320"/>
          </a:xfrm>
          <a:prstGeom prst="rect">
            <a:avLst/>
          </a:prstGeom>
          <a:noFill/>
          <a:ln/>
        </p:spPr>
        <p:txBody>
          <a:bodyPr wrap="square" lIns="0" tIns="0" rIns="0" bIns="0" rtlCol="0" anchor="ctr">
            <a:normAutofit/>
          </a:bodyPr>
          <a:lstStyle/>
          <a:p>
            <a:pPr algn="ctr" indent="0" marL="0">
              <a:buNone/>
            </a:pPr>
            <a:r>
              <a:rPr lang="en-US" sz="1050" b="1" dirty="0">
                <a:solidFill>
                  <a:srgbClr val="526675"/>
                </a:solidFill>
                <a:latin typeface="Aptos" pitchFamily="34" charset="0"/>
                <a:ea typeface="Aptos" pitchFamily="34" charset="-122"/>
                <a:cs typeface="Aptos" pitchFamily="34" charset="-120"/>
              </a:rPr>
              <a:t>Cross-dataset appearance shift</a:t>
            </a:r>
            <a:endParaRPr lang="en-US" sz="1050" dirty="0"/>
          </a:p>
        </p:txBody>
      </p:sp>
      <p:sp>
        <p:nvSpPr>
          <p:cNvPr id="25" name="Text 23"/>
          <p:cNvSpPr/>
          <p:nvPr/>
        </p:nvSpPr>
        <p:spPr>
          <a:xfrm>
            <a:off x="749808" y="6281928"/>
            <a:ext cx="10881360" cy="182880"/>
          </a:xfrm>
          <a:prstGeom prst="rect">
            <a:avLst/>
          </a:prstGeom>
          <a:noFill/>
          <a:ln/>
        </p:spPr>
        <p:txBody>
          <a:bodyPr wrap="square" lIns="0" tIns="0" rIns="0" bIns="0" rtlCol="0" anchor="ctr">
            <a:normAutofit/>
          </a:bodyPr>
          <a:lstStyle/>
          <a:p>
            <a:pPr algn="l" indent="0" marL="0">
              <a:buNone/>
            </a:pPr>
            <a:r>
              <a:rPr lang="en-US" sz="1010" i="1" dirty="0">
                <a:solidFill>
                  <a:srgbClr val="768794"/>
                </a:solidFill>
                <a:latin typeface="Aptos" pitchFamily="34" charset="0"/>
                <a:ea typeface="Aptos" pitchFamily="34" charset="-122"/>
                <a:cs typeface="Aptos" pitchFamily="34" charset="-120"/>
              </a:rPr>
              <a:t>Figures above come from a separate saved attribute-prediction audit (threshold 0.5).</a:t>
            </a:r>
            <a:endParaRPr lang="en-US" sz="101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2743200" cy="228600"/>
          </a:xfrm>
          <a:prstGeom prst="rect">
            <a:avLst/>
          </a:prstGeom>
          <a:noFill/>
          <a:ln/>
        </p:spPr>
        <p:txBody>
          <a:bodyPr wrap="square" lIns="0" tIns="0" rIns="0" bIns="0" rtlCol="0" anchor="ctr">
            <a:normAutofit/>
          </a:bodyPr>
          <a:lstStyle/>
          <a:p>
            <a:pPr algn="l" indent="0" marL="0">
              <a:buNone/>
            </a:pPr>
            <a:r>
              <a:rPr lang="en-US" sz="1000" b="1" spc="135" kern="0" dirty="0">
                <a:solidFill>
                  <a:srgbClr val="768794"/>
                </a:solidFill>
                <a:latin typeface="Aptos" pitchFamily="34" charset="0"/>
                <a:ea typeface="Aptos" pitchFamily="34" charset="-122"/>
                <a:cs typeface="Aptos" pitchFamily="34" charset="-120"/>
              </a:rPr>
              <a:t>UPAR   /   TRACK 02</a:t>
            </a:r>
            <a:endParaRPr lang="en-US" sz="1000" dirty="0"/>
          </a:p>
        </p:txBody>
      </p:sp>
      <p:sp>
        <p:nvSpPr>
          <p:cNvPr id="3" name="Text 1"/>
          <p:cNvSpPr/>
          <p:nvPr/>
        </p:nvSpPr>
        <p:spPr>
          <a:xfrm>
            <a:off x="11036808" y="310896"/>
            <a:ext cx="566928" cy="219456"/>
          </a:xfrm>
          <a:prstGeom prst="rect">
            <a:avLst/>
          </a:prstGeom>
          <a:noFill/>
          <a:ln/>
        </p:spPr>
        <p:txBody>
          <a:bodyPr wrap="square" lIns="0" tIns="0" rIns="0" bIns="0" rtlCol="0" anchor="ctr">
            <a:normAutofit/>
          </a:bodyPr>
          <a:lstStyle/>
          <a:p>
            <a:pPr algn="r" indent="0" marL="0">
              <a:buNone/>
            </a:pPr>
            <a:r>
              <a:rPr lang="en-US" sz="1020" b="1" dirty="0">
                <a:solidFill>
                  <a:srgbClr val="768794"/>
                </a:solidFill>
                <a:latin typeface="Aptos" pitchFamily="34" charset="0"/>
                <a:ea typeface="Aptos" pitchFamily="34" charset="-122"/>
                <a:cs typeface="Aptos" pitchFamily="34" charset="-120"/>
              </a:rPr>
              <a:t>08</a:t>
            </a:r>
            <a:endParaRPr lang="en-US" sz="1020" dirty="0"/>
          </a:p>
        </p:txBody>
      </p:sp>
      <p:sp>
        <p:nvSpPr>
          <p:cNvPr id="4" name="Shape 2"/>
          <p:cNvSpPr/>
          <p:nvPr/>
        </p:nvSpPr>
        <p:spPr>
          <a:xfrm>
            <a:off x="566928" y="731520"/>
            <a:ext cx="11045952" cy="0"/>
          </a:xfrm>
          <a:prstGeom prst="line">
            <a:avLst/>
          </a:prstGeom>
          <a:noFill/>
          <a:ln w="10160">
            <a:solidFill>
              <a:srgbClr val="DCE5E8"/>
            </a:solidFill>
            <a:prstDash val="solid"/>
          </a:ln>
        </p:spPr>
      </p:sp>
      <p:sp>
        <p:nvSpPr>
          <p:cNvPr id="5" name="Text 3"/>
          <p:cNvSpPr/>
          <p:nvPr/>
        </p:nvSpPr>
        <p:spPr>
          <a:xfrm>
            <a:off x="603504" y="996696"/>
            <a:ext cx="8229600" cy="201168"/>
          </a:xfrm>
          <a:prstGeom prst="rect">
            <a:avLst/>
          </a:prstGeom>
          <a:noFill/>
          <a:ln/>
        </p:spPr>
        <p:txBody>
          <a:bodyPr wrap="square" lIns="0" tIns="0" rIns="0" bIns="0" rtlCol="0" anchor="ctr">
            <a:normAutofit/>
          </a:bodyPr>
          <a:lstStyle/>
          <a:p>
            <a:pPr algn="l" indent="0" marL="0">
              <a:buNone/>
            </a:pPr>
            <a:r>
              <a:rPr lang="en-US" sz="1050" b="1" spc="160" kern="0" dirty="0">
                <a:solidFill>
                  <a:srgbClr val="397D82"/>
                </a:solidFill>
                <a:latin typeface="Aptos" pitchFamily="34" charset="0"/>
                <a:ea typeface="Aptos" pitchFamily="34" charset="-122"/>
                <a:cs typeface="Aptos" pitchFamily="34" charset="-120"/>
              </a:rPr>
              <a:t>LIVE DEMONSTRATION</a:t>
            </a:r>
            <a:endParaRPr lang="en-US" sz="1050" dirty="0"/>
          </a:p>
        </p:txBody>
      </p:sp>
      <p:sp>
        <p:nvSpPr>
          <p:cNvPr id="6" name="Text 4"/>
          <p:cNvSpPr/>
          <p:nvPr/>
        </p:nvSpPr>
        <p:spPr>
          <a:xfrm>
            <a:off x="585216" y="1353312"/>
            <a:ext cx="10927080" cy="621792"/>
          </a:xfrm>
          <a:prstGeom prst="rect">
            <a:avLst/>
          </a:prstGeom>
          <a:noFill/>
          <a:ln/>
        </p:spPr>
        <p:txBody>
          <a:bodyPr wrap="square" lIns="0" tIns="0" rIns="0" bIns="0" rtlCol="0" anchor="ctr">
            <a:normAutofit/>
          </a:bodyPr>
          <a:lstStyle/>
          <a:p>
            <a:pPr algn="l" indent="0" marL="0">
              <a:buNone/>
            </a:pPr>
            <a:r>
              <a:rPr lang="en-US" sz="2950" b="1" dirty="0">
                <a:solidFill>
                  <a:srgbClr val="152A3A"/>
                </a:solidFill>
                <a:latin typeface="Aptos" pitchFamily="34" charset="0"/>
                <a:ea typeface="Aptos" pitchFamily="34" charset="-122"/>
                <a:cs typeface="Aptos" pitchFamily="34" charset="-120"/>
              </a:rPr>
              <a:t>Attribute query → ranked results</a:t>
            </a:r>
            <a:endParaRPr lang="en-US" sz="2950" dirty="0"/>
          </a:p>
        </p:txBody>
      </p:sp>
      <p:sp>
        <p:nvSpPr>
          <p:cNvPr id="7" name="Text 5"/>
          <p:cNvSpPr/>
          <p:nvPr/>
        </p:nvSpPr>
        <p:spPr>
          <a:xfrm>
            <a:off x="603504" y="1984248"/>
            <a:ext cx="10424160" cy="457200"/>
          </a:xfrm>
          <a:prstGeom prst="rect">
            <a:avLst/>
          </a:prstGeom>
          <a:noFill/>
          <a:ln/>
        </p:spPr>
        <p:txBody>
          <a:bodyPr wrap="square" lIns="0" tIns="0" rIns="0" bIns="0" rtlCol="0" anchor="ctr">
            <a:normAutofit/>
          </a:bodyPr>
          <a:lstStyle/>
          <a:p>
            <a:pPr algn="l" indent="0" marL="0">
              <a:buNone/>
            </a:pPr>
            <a:r>
              <a:rPr lang="en-US" sz="1440" dirty="0">
                <a:solidFill>
                  <a:srgbClr val="526675"/>
                </a:solidFill>
                <a:latin typeface="Aptos" pitchFamily="34" charset="0"/>
                <a:ea typeface="Aptos" pitchFamily="34" charset="-122"/>
                <a:cs typeface="Aptos" pitchFamily="34" charset="-120"/>
              </a:rPr>
              <a:t>Switch to Google Colab here and run the real inference pipeline.</a:t>
            </a:r>
            <a:endParaRPr lang="en-US" sz="1440" dirty="0"/>
          </a:p>
        </p:txBody>
      </p:sp>
      <p:sp>
        <p:nvSpPr>
          <p:cNvPr id="8" name="Shape 6"/>
          <p:cNvSpPr/>
          <p:nvPr/>
        </p:nvSpPr>
        <p:spPr>
          <a:xfrm>
            <a:off x="566928" y="6510528"/>
            <a:ext cx="11045952" cy="0"/>
          </a:xfrm>
          <a:prstGeom prst="line">
            <a:avLst/>
          </a:prstGeom>
          <a:noFill/>
          <a:ln w="8890">
            <a:solidFill>
              <a:srgbClr val="DCE5E8"/>
            </a:solidFill>
            <a:prstDash val="solid"/>
          </a:ln>
        </p:spPr>
      </p:sp>
      <p:sp>
        <p:nvSpPr>
          <p:cNvPr id="9" name="Text 7"/>
          <p:cNvSpPr/>
          <p:nvPr/>
        </p:nvSpPr>
        <p:spPr>
          <a:xfrm>
            <a:off x="585216" y="6547104"/>
            <a:ext cx="9144000" cy="173736"/>
          </a:xfrm>
          <a:prstGeom prst="rect">
            <a:avLst/>
          </a:prstGeom>
          <a:noFill/>
          <a:ln/>
        </p:spPr>
        <p:txBody>
          <a:bodyPr wrap="square" lIns="0" tIns="0" rIns="0" bIns="0" rtlCol="0" anchor="ctr">
            <a:normAutofit/>
          </a:bodyPr>
          <a:lstStyle/>
          <a:p>
            <a:pPr algn="l" indent="0" marL="0">
              <a:buNone/>
            </a:pPr>
            <a:r>
              <a:rPr lang="en-US" sz="820" spc="50" kern="0" dirty="0">
                <a:solidFill>
                  <a:srgbClr val="768794"/>
                </a:solidFill>
                <a:latin typeface="Aptos" pitchFamily="34" charset="0"/>
                <a:ea typeface="Aptos" pitchFamily="34" charset="-122"/>
                <a:cs typeface="Aptos" pitchFamily="34" charset="-120"/>
              </a:rPr>
              <a:t>UPAR CHALLENGE 2027  ·  ATTRIBUTE-BASED PEDESTRIAN RETRIEVAL</a:t>
            </a:r>
            <a:endParaRPr lang="en-US" sz="820" dirty="0"/>
          </a:p>
        </p:txBody>
      </p:sp>
      <p:sp>
        <p:nvSpPr>
          <p:cNvPr id="10" name="Shape 8"/>
          <p:cNvSpPr/>
          <p:nvPr/>
        </p:nvSpPr>
        <p:spPr>
          <a:xfrm>
            <a:off x="667512" y="2743200"/>
            <a:ext cx="7498080" cy="3017520"/>
          </a:xfrm>
          <a:prstGeom prst="roundRect">
            <a:avLst>
              <a:gd name="adj" fmla="val 2424"/>
            </a:avLst>
          </a:prstGeom>
          <a:solidFill>
            <a:srgbClr val="152A3A"/>
          </a:solidFill>
          <a:ln w="12700">
            <a:solidFill>
              <a:srgbClr val="152A3A">
                <a:alpha val="0"/>
              </a:srgbClr>
            </a:solidFill>
            <a:prstDash val="solid"/>
          </a:ln>
        </p:spPr>
      </p:sp>
      <p:sp>
        <p:nvSpPr>
          <p:cNvPr id="11" name="Text 9"/>
          <p:cNvSpPr/>
          <p:nvPr/>
        </p:nvSpPr>
        <p:spPr>
          <a:xfrm>
            <a:off x="960120" y="3127248"/>
            <a:ext cx="6858000" cy="329184"/>
          </a:xfrm>
          <a:prstGeom prst="rect">
            <a:avLst/>
          </a:prstGeom>
          <a:noFill/>
          <a:ln/>
        </p:spPr>
        <p:txBody>
          <a:bodyPr wrap="square" lIns="0" tIns="0" rIns="0" bIns="0" rtlCol="0" anchor="ctr">
            <a:normAutofit/>
          </a:bodyPr>
          <a:lstStyle/>
          <a:p>
            <a:pPr algn="l" indent="0" marL="0">
              <a:buNone/>
            </a:pPr>
            <a:r>
              <a:rPr lang="en-US" sz="1300" b="1" spc="155" kern="0" dirty="0">
                <a:solidFill>
                  <a:srgbClr val="BCD2D7"/>
                </a:solidFill>
                <a:latin typeface="Aptos" pitchFamily="34" charset="0"/>
                <a:ea typeface="Aptos" pitchFamily="34" charset="-122"/>
                <a:cs typeface="Aptos" pitchFamily="34" charset="-120"/>
              </a:rPr>
              <a:t>LIVE MODEL DEMO</a:t>
            </a:r>
            <a:endParaRPr lang="en-US" sz="1300" dirty="0"/>
          </a:p>
        </p:txBody>
      </p:sp>
      <p:sp>
        <p:nvSpPr>
          <p:cNvPr id="12" name="Text 10"/>
          <p:cNvSpPr/>
          <p:nvPr/>
        </p:nvSpPr>
        <p:spPr>
          <a:xfrm>
            <a:off x="960120" y="3749040"/>
            <a:ext cx="6739128" cy="1024128"/>
          </a:xfrm>
          <a:prstGeom prst="rect">
            <a:avLst/>
          </a:prstGeom>
          <a:noFill/>
          <a:ln/>
        </p:spPr>
        <p:txBody>
          <a:bodyPr wrap="square" lIns="0" tIns="0" rIns="0" bIns="0" rtlCol="0" anchor="ctr">
            <a:normAutofit/>
          </a:bodyPr>
          <a:lstStyle/>
          <a:p>
            <a:pPr algn="l" indent="0" marL="0">
              <a:buNone/>
            </a:pPr>
            <a:r>
              <a:rPr lang="en-US" sz="2750" b="1" dirty="0">
                <a:solidFill>
                  <a:srgbClr val="FFFFFF"/>
                </a:solidFill>
                <a:latin typeface="Aptos" pitchFamily="34" charset="0"/>
                <a:ea typeface="Aptos" pitchFamily="34" charset="-122"/>
                <a:cs typeface="Aptos" pitchFamily="34" charset="-120"/>
              </a:rPr>
              <a:t>Show the top-ranked</a:t>
            </a:r>
            <a:endParaRPr lang="en-US" sz="2750" dirty="0"/>
          </a:p>
          <a:p>
            <a:pPr algn="l" indent="0" marL="0">
              <a:buNone/>
            </a:pPr>
            <a:r>
              <a:rPr lang="en-US" sz="2750" b="1" dirty="0">
                <a:solidFill>
                  <a:srgbClr val="FFFFFF"/>
                </a:solidFill>
                <a:latin typeface="Aptos" pitchFamily="34" charset="0"/>
                <a:ea typeface="Aptos" pitchFamily="34" charset="-122"/>
                <a:cs typeface="Aptos" pitchFamily="34" charset="-120"/>
              </a:rPr>
              <a:t>pedestrian images</a:t>
            </a:r>
            <a:endParaRPr lang="en-US" sz="2750" dirty="0"/>
          </a:p>
        </p:txBody>
      </p:sp>
      <p:sp>
        <p:nvSpPr>
          <p:cNvPr id="13" name="Text 11"/>
          <p:cNvSpPr/>
          <p:nvPr/>
        </p:nvSpPr>
        <p:spPr>
          <a:xfrm>
            <a:off x="960120" y="5257800"/>
            <a:ext cx="6675120" cy="292608"/>
          </a:xfrm>
          <a:prstGeom prst="rect">
            <a:avLst/>
          </a:prstGeom>
          <a:noFill/>
          <a:ln/>
        </p:spPr>
        <p:txBody>
          <a:bodyPr wrap="square" lIns="0" tIns="0" rIns="0" bIns="0" rtlCol="0" anchor="ctr">
            <a:normAutofit/>
          </a:bodyPr>
          <a:lstStyle/>
          <a:p>
            <a:pPr algn="l" indent="0" marL="0">
              <a:buNone/>
            </a:pPr>
            <a:r>
              <a:rPr lang="en-US" sz="1290" dirty="0">
                <a:solidFill>
                  <a:srgbClr val="B9C8CE"/>
                </a:solidFill>
                <a:latin typeface="Aptos" pitchFamily="34" charset="0"/>
                <a:ea typeface="Aptos" pitchFamily="34" charset="-122"/>
                <a:cs typeface="Aptos" pitchFamily="34" charset="-120"/>
              </a:rPr>
              <a:t>Screen-share Colab or insert a recording in this area.</a:t>
            </a:r>
            <a:endParaRPr lang="en-US" sz="1290" dirty="0"/>
          </a:p>
        </p:txBody>
      </p:sp>
      <p:sp>
        <p:nvSpPr>
          <p:cNvPr id="14" name="Text 12"/>
          <p:cNvSpPr/>
          <p:nvPr/>
        </p:nvSpPr>
        <p:spPr>
          <a:xfrm>
            <a:off x="8622792" y="2843784"/>
            <a:ext cx="2834640" cy="320040"/>
          </a:xfrm>
          <a:prstGeom prst="rect">
            <a:avLst/>
          </a:prstGeom>
          <a:noFill/>
          <a:ln/>
        </p:spPr>
        <p:txBody>
          <a:bodyPr wrap="square" lIns="0" tIns="0" rIns="0" bIns="0" rtlCol="0" anchor="ctr">
            <a:normAutofit/>
          </a:bodyPr>
          <a:lstStyle/>
          <a:p>
            <a:pPr algn="l" indent="0" marL="0">
              <a:buNone/>
            </a:pPr>
            <a:r>
              <a:rPr lang="en-US" sz="1120" b="1" spc="100" kern="0" dirty="0">
                <a:solidFill>
                  <a:srgbClr val="397D82"/>
                </a:solidFill>
                <a:latin typeface="Aptos" pitchFamily="34" charset="0"/>
                <a:ea typeface="Aptos" pitchFamily="34" charset="-122"/>
                <a:cs typeface="Aptos" pitchFamily="34" charset="-120"/>
              </a:rPr>
              <a:t>DEMO CHECKLIST</a:t>
            </a:r>
            <a:endParaRPr lang="en-US" sz="1120" dirty="0"/>
          </a:p>
        </p:txBody>
      </p:sp>
      <p:sp>
        <p:nvSpPr>
          <p:cNvPr id="15" name="Text 13"/>
          <p:cNvSpPr/>
          <p:nvPr/>
        </p:nvSpPr>
        <p:spPr>
          <a:xfrm>
            <a:off x="8641080" y="3337560"/>
            <a:ext cx="365760" cy="265176"/>
          </a:xfrm>
          <a:prstGeom prst="rect">
            <a:avLst/>
          </a:prstGeom>
          <a:noFill/>
          <a:ln/>
        </p:spPr>
        <p:txBody>
          <a:bodyPr wrap="square" lIns="0" tIns="0" rIns="0" bIns="0" rtlCol="0" anchor="ctr">
            <a:normAutofit/>
          </a:bodyPr>
          <a:lstStyle/>
          <a:p>
            <a:pPr algn="l" indent="0" marL="0">
              <a:buNone/>
            </a:pPr>
            <a:r>
              <a:rPr lang="en-US" sz="1240" b="1" dirty="0">
                <a:solidFill>
                  <a:srgbClr val="397D82"/>
                </a:solidFill>
                <a:latin typeface="Aptos" pitchFamily="34" charset="0"/>
                <a:ea typeface="Aptos" pitchFamily="34" charset="-122"/>
                <a:cs typeface="Aptos" pitchFamily="34" charset="-120"/>
              </a:rPr>
              <a:t>01</a:t>
            </a:r>
            <a:endParaRPr lang="en-US" sz="1240" dirty="0"/>
          </a:p>
        </p:txBody>
      </p:sp>
      <p:sp>
        <p:nvSpPr>
          <p:cNvPr id="16" name="Text 14"/>
          <p:cNvSpPr/>
          <p:nvPr/>
        </p:nvSpPr>
        <p:spPr>
          <a:xfrm>
            <a:off x="9189720" y="3337560"/>
            <a:ext cx="2322576" cy="384048"/>
          </a:xfrm>
          <a:prstGeom prst="rect">
            <a:avLst/>
          </a:prstGeom>
          <a:noFill/>
          <a:ln/>
        </p:spPr>
        <p:txBody>
          <a:bodyPr wrap="square" lIns="0" tIns="0" rIns="0" bIns="0" rtlCol="0" anchor="ctr">
            <a:normAutofit/>
          </a:bodyPr>
          <a:lstStyle/>
          <a:p>
            <a:pPr algn="l" indent="0" marL="0">
              <a:buNone/>
            </a:pPr>
            <a:r>
              <a:rPr lang="en-US" sz="1280" dirty="0">
                <a:solidFill>
                  <a:srgbClr val="1D3040"/>
                </a:solidFill>
                <a:latin typeface="Aptos" pitchFamily="34" charset="0"/>
                <a:ea typeface="Aptos" pitchFamily="34" charset="-122"/>
                <a:cs typeface="Aptos" pitchFamily="34" charset="-120"/>
              </a:rPr>
              <a:t>Select a valid 40-bit query</a:t>
            </a:r>
            <a:endParaRPr lang="en-US" sz="1280" dirty="0"/>
          </a:p>
        </p:txBody>
      </p:sp>
      <p:sp>
        <p:nvSpPr>
          <p:cNvPr id="17" name="Text 15"/>
          <p:cNvSpPr/>
          <p:nvPr/>
        </p:nvSpPr>
        <p:spPr>
          <a:xfrm>
            <a:off x="8641080" y="3913632"/>
            <a:ext cx="365760" cy="265176"/>
          </a:xfrm>
          <a:prstGeom prst="rect">
            <a:avLst/>
          </a:prstGeom>
          <a:noFill/>
          <a:ln/>
        </p:spPr>
        <p:txBody>
          <a:bodyPr wrap="square" lIns="0" tIns="0" rIns="0" bIns="0" rtlCol="0" anchor="ctr">
            <a:normAutofit/>
          </a:bodyPr>
          <a:lstStyle/>
          <a:p>
            <a:pPr algn="l" indent="0" marL="0">
              <a:buNone/>
            </a:pPr>
            <a:r>
              <a:rPr lang="en-US" sz="1240" b="1" dirty="0">
                <a:solidFill>
                  <a:srgbClr val="397D82"/>
                </a:solidFill>
                <a:latin typeface="Aptos" pitchFamily="34" charset="0"/>
                <a:ea typeface="Aptos" pitchFamily="34" charset="-122"/>
                <a:cs typeface="Aptos" pitchFamily="34" charset="-120"/>
              </a:rPr>
              <a:t>02</a:t>
            </a:r>
            <a:endParaRPr lang="en-US" sz="1240" dirty="0"/>
          </a:p>
        </p:txBody>
      </p:sp>
      <p:sp>
        <p:nvSpPr>
          <p:cNvPr id="18" name="Text 16"/>
          <p:cNvSpPr/>
          <p:nvPr/>
        </p:nvSpPr>
        <p:spPr>
          <a:xfrm>
            <a:off x="9189720" y="3913632"/>
            <a:ext cx="2322576" cy="384048"/>
          </a:xfrm>
          <a:prstGeom prst="rect">
            <a:avLst/>
          </a:prstGeom>
          <a:noFill/>
          <a:ln/>
        </p:spPr>
        <p:txBody>
          <a:bodyPr wrap="square" lIns="0" tIns="0" rIns="0" bIns="0" rtlCol="0" anchor="ctr">
            <a:normAutofit/>
          </a:bodyPr>
          <a:lstStyle/>
          <a:p>
            <a:pPr algn="l" indent="0" marL="0">
              <a:buNone/>
            </a:pPr>
            <a:r>
              <a:rPr lang="en-US" sz="1280" dirty="0">
                <a:solidFill>
                  <a:srgbClr val="1D3040"/>
                </a:solidFill>
                <a:latin typeface="Aptos" pitchFamily="34" charset="0"/>
                <a:ea typeface="Aptos" pitchFamily="34" charset="-122"/>
                <a:cs typeface="Aptos" pitchFamily="34" charset="-120"/>
              </a:rPr>
              <a:t>Load the four TorchScript assets</a:t>
            </a:r>
            <a:endParaRPr lang="en-US" sz="1280" dirty="0"/>
          </a:p>
        </p:txBody>
      </p:sp>
      <p:sp>
        <p:nvSpPr>
          <p:cNvPr id="19" name="Text 17"/>
          <p:cNvSpPr/>
          <p:nvPr/>
        </p:nvSpPr>
        <p:spPr>
          <a:xfrm>
            <a:off x="8641080" y="4489704"/>
            <a:ext cx="365760" cy="265176"/>
          </a:xfrm>
          <a:prstGeom prst="rect">
            <a:avLst/>
          </a:prstGeom>
          <a:noFill/>
          <a:ln/>
        </p:spPr>
        <p:txBody>
          <a:bodyPr wrap="square" lIns="0" tIns="0" rIns="0" bIns="0" rtlCol="0" anchor="ctr">
            <a:normAutofit/>
          </a:bodyPr>
          <a:lstStyle/>
          <a:p>
            <a:pPr algn="l" indent="0" marL="0">
              <a:buNone/>
            </a:pPr>
            <a:r>
              <a:rPr lang="en-US" sz="1240" b="1" dirty="0">
                <a:solidFill>
                  <a:srgbClr val="397D82"/>
                </a:solidFill>
                <a:latin typeface="Aptos" pitchFamily="34" charset="0"/>
                <a:ea typeface="Aptos" pitchFamily="34" charset="-122"/>
                <a:cs typeface="Aptos" pitchFamily="34" charset="-120"/>
              </a:rPr>
              <a:t>03</a:t>
            </a:r>
            <a:endParaRPr lang="en-US" sz="1240" dirty="0"/>
          </a:p>
        </p:txBody>
      </p:sp>
      <p:sp>
        <p:nvSpPr>
          <p:cNvPr id="20" name="Text 18"/>
          <p:cNvSpPr/>
          <p:nvPr/>
        </p:nvSpPr>
        <p:spPr>
          <a:xfrm>
            <a:off x="9189720" y="4489704"/>
            <a:ext cx="2322576" cy="384048"/>
          </a:xfrm>
          <a:prstGeom prst="rect">
            <a:avLst/>
          </a:prstGeom>
          <a:noFill/>
          <a:ln/>
        </p:spPr>
        <p:txBody>
          <a:bodyPr wrap="square" lIns="0" tIns="0" rIns="0" bIns="0" rtlCol="0" anchor="ctr">
            <a:normAutofit/>
          </a:bodyPr>
          <a:lstStyle/>
          <a:p>
            <a:pPr algn="l" indent="0" marL="0">
              <a:buNone/>
            </a:pPr>
            <a:r>
              <a:rPr lang="en-US" sz="1280" dirty="0">
                <a:solidFill>
                  <a:srgbClr val="1D3040"/>
                </a:solidFill>
                <a:latin typeface="Aptos" pitchFamily="34" charset="0"/>
                <a:ea typeface="Aptos" pitchFamily="34" charset="-122"/>
                <a:cs typeface="Aptos" pitchFamily="34" charset="-120"/>
              </a:rPr>
              <a:t>Call rank_gallery(sample)</a:t>
            </a:r>
            <a:endParaRPr lang="en-US" sz="1280" dirty="0"/>
          </a:p>
        </p:txBody>
      </p:sp>
      <p:sp>
        <p:nvSpPr>
          <p:cNvPr id="21" name="Text 19"/>
          <p:cNvSpPr/>
          <p:nvPr/>
        </p:nvSpPr>
        <p:spPr>
          <a:xfrm>
            <a:off x="8641080" y="5065776"/>
            <a:ext cx="365760" cy="265176"/>
          </a:xfrm>
          <a:prstGeom prst="rect">
            <a:avLst/>
          </a:prstGeom>
          <a:noFill/>
          <a:ln/>
        </p:spPr>
        <p:txBody>
          <a:bodyPr wrap="square" lIns="0" tIns="0" rIns="0" bIns="0" rtlCol="0" anchor="ctr">
            <a:normAutofit/>
          </a:bodyPr>
          <a:lstStyle/>
          <a:p>
            <a:pPr algn="l" indent="0" marL="0">
              <a:buNone/>
            </a:pPr>
            <a:r>
              <a:rPr lang="en-US" sz="1240" b="1" dirty="0">
                <a:solidFill>
                  <a:srgbClr val="397D82"/>
                </a:solidFill>
                <a:latin typeface="Aptos" pitchFamily="34" charset="0"/>
                <a:ea typeface="Aptos" pitchFamily="34" charset="-122"/>
                <a:cs typeface="Aptos" pitchFamily="34" charset="-120"/>
              </a:rPr>
              <a:t>04</a:t>
            </a:r>
            <a:endParaRPr lang="en-US" sz="1240" dirty="0"/>
          </a:p>
        </p:txBody>
      </p:sp>
      <p:sp>
        <p:nvSpPr>
          <p:cNvPr id="22" name="Text 20"/>
          <p:cNvSpPr/>
          <p:nvPr/>
        </p:nvSpPr>
        <p:spPr>
          <a:xfrm>
            <a:off x="9189720" y="5065776"/>
            <a:ext cx="2322576" cy="384048"/>
          </a:xfrm>
          <a:prstGeom prst="rect">
            <a:avLst/>
          </a:prstGeom>
          <a:noFill/>
          <a:ln/>
        </p:spPr>
        <p:txBody>
          <a:bodyPr wrap="square" lIns="0" tIns="0" rIns="0" bIns="0" rtlCol="0" anchor="ctr">
            <a:normAutofit/>
          </a:bodyPr>
          <a:lstStyle/>
          <a:p>
            <a:pPr algn="l" indent="0" marL="0">
              <a:buNone/>
            </a:pPr>
            <a:r>
              <a:rPr lang="en-US" sz="1280" dirty="0">
                <a:solidFill>
                  <a:srgbClr val="1D3040"/>
                </a:solidFill>
                <a:latin typeface="Aptos" pitchFamily="34" charset="0"/>
                <a:ea typeface="Aptos" pitchFamily="34" charset="-122"/>
                <a:cs typeface="Aptos" pitchFamily="34" charset="-120"/>
              </a:rPr>
              <a:t>Display the top five results</a:t>
            </a:r>
            <a:endParaRPr lang="en-US" sz="1280" dirty="0"/>
          </a:p>
        </p:txBody>
      </p:sp>
      <p:sp>
        <p:nvSpPr>
          <p:cNvPr id="23" name="Text 21"/>
          <p:cNvSpPr/>
          <p:nvPr/>
        </p:nvSpPr>
        <p:spPr>
          <a:xfrm>
            <a:off x="8622792" y="5852160"/>
            <a:ext cx="2953512" cy="347472"/>
          </a:xfrm>
          <a:prstGeom prst="rect">
            <a:avLst/>
          </a:prstGeom>
          <a:noFill/>
          <a:ln/>
        </p:spPr>
        <p:txBody>
          <a:bodyPr wrap="square" lIns="0" tIns="0" rIns="0" bIns="0" rtlCol="0" anchor="ctr">
            <a:normAutofit/>
          </a:bodyPr>
          <a:lstStyle/>
          <a:p>
            <a:pPr algn="l" indent="0" marL="0">
              <a:buNone/>
            </a:pPr>
            <a:r>
              <a:rPr lang="en-US" sz="1040" i="1" dirty="0">
                <a:solidFill>
                  <a:srgbClr val="768794"/>
                </a:solidFill>
                <a:latin typeface="Aptos" pitchFamily="34" charset="0"/>
                <a:ea typeface="Aptos" pitchFamily="34" charset="-122"/>
                <a:cs typeface="Aptos" pitchFamily="34" charset="-120"/>
              </a:rPr>
              <a:t>Do not manually rearrange results or claim the example images are an official test.</a:t>
            </a:r>
            <a:endParaRPr lang="en-US" sz="104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2743200" cy="228600"/>
          </a:xfrm>
          <a:prstGeom prst="rect">
            <a:avLst/>
          </a:prstGeom>
          <a:noFill/>
          <a:ln/>
        </p:spPr>
        <p:txBody>
          <a:bodyPr wrap="square" lIns="0" tIns="0" rIns="0" bIns="0" rtlCol="0" anchor="ctr">
            <a:normAutofit/>
          </a:bodyPr>
          <a:lstStyle/>
          <a:p>
            <a:pPr algn="l" indent="0" marL="0">
              <a:buNone/>
            </a:pPr>
            <a:r>
              <a:rPr lang="en-US" sz="1000" b="1" spc="135" kern="0" dirty="0">
                <a:solidFill>
                  <a:srgbClr val="768794"/>
                </a:solidFill>
                <a:latin typeface="Aptos" pitchFamily="34" charset="0"/>
                <a:ea typeface="Aptos" pitchFamily="34" charset="-122"/>
                <a:cs typeface="Aptos" pitchFamily="34" charset="-120"/>
              </a:rPr>
              <a:t>UPAR   /   TRACK 02</a:t>
            </a:r>
            <a:endParaRPr lang="en-US" sz="1000" dirty="0"/>
          </a:p>
        </p:txBody>
      </p:sp>
      <p:sp>
        <p:nvSpPr>
          <p:cNvPr id="3" name="Text 1"/>
          <p:cNvSpPr/>
          <p:nvPr/>
        </p:nvSpPr>
        <p:spPr>
          <a:xfrm>
            <a:off x="11036808" y="310896"/>
            <a:ext cx="566928" cy="219456"/>
          </a:xfrm>
          <a:prstGeom prst="rect">
            <a:avLst/>
          </a:prstGeom>
          <a:noFill/>
          <a:ln/>
        </p:spPr>
        <p:txBody>
          <a:bodyPr wrap="square" lIns="0" tIns="0" rIns="0" bIns="0" rtlCol="0" anchor="ctr">
            <a:normAutofit/>
          </a:bodyPr>
          <a:lstStyle/>
          <a:p>
            <a:pPr algn="r" indent="0" marL="0">
              <a:buNone/>
            </a:pPr>
            <a:r>
              <a:rPr lang="en-US" sz="1020" b="1" dirty="0">
                <a:solidFill>
                  <a:srgbClr val="768794"/>
                </a:solidFill>
                <a:latin typeface="Aptos" pitchFamily="34" charset="0"/>
                <a:ea typeface="Aptos" pitchFamily="34" charset="-122"/>
                <a:cs typeface="Aptos" pitchFamily="34" charset="-120"/>
              </a:rPr>
              <a:t>09</a:t>
            </a:r>
            <a:endParaRPr lang="en-US" sz="1020" dirty="0"/>
          </a:p>
        </p:txBody>
      </p:sp>
      <p:sp>
        <p:nvSpPr>
          <p:cNvPr id="4" name="Shape 2"/>
          <p:cNvSpPr/>
          <p:nvPr/>
        </p:nvSpPr>
        <p:spPr>
          <a:xfrm>
            <a:off x="566928" y="731520"/>
            <a:ext cx="11045952" cy="0"/>
          </a:xfrm>
          <a:prstGeom prst="line">
            <a:avLst/>
          </a:prstGeom>
          <a:noFill/>
          <a:ln w="10160">
            <a:solidFill>
              <a:srgbClr val="DCE5E8"/>
            </a:solidFill>
            <a:prstDash val="solid"/>
          </a:ln>
        </p:spPr>
      </p:sp>
      <p:sp>
        <p:nvSpPr>
          <p:cNvPr id="5" name="Text 3"/>
          <p:cNvSpPr/>
          <p:nvPr/>
        </p:nvSpPr>
        <p:spPr>
          <a:xfrm>
            <a:off x="603504" y="996696"/>
            <a:ext cx="8229600" cy="201168"/>
          </a:xfrm>
          <a:prstGeom prst="rect">
            <a:avLst/>
          </a:prstGeom>
          <a:noFill/>
          <a:ln/>
        </p:spPr>
        <p:txBody>
          <a:bodyPr wrap="square" lIns="0" tIns="0" rIns="0" bIns="0" rtlCol="0" anchor="ctr">
            <a:normAutofit/>
          </a:bodyPr>
          <a:lstStyle/>
          <a:p>
            <a:pPr algn="l" indent="0" marL="0">
              <a:buNone/>
            </a:pPr>
            <a:r>
              <a:rPr lang="en-US" sz="1050" b="1" spc="160" kern="0" dirty="0">
                <a:solidFill>
                  <a:srgbClr val="397D82"/>
                </a:solidFill>
                <a:latin typeface="Aptos" pitchFamily="34" charset="0"/>
                <a:ea typeface="Aptos" pitchFamily="34" charset="-122"/>
                <a:cs typeface="Aptos" pitchFamily="34" charset="-120"/>
              </a:rPr>
              <a:t>COMPETITION EVIDENCE</a:t>
            </a:r>
            <a:endParaRPr lang="en-US" sz="1050" dirty="0"/>
          </a:p>
        </p:txBody>
      </p:sp>
      <p:sp>
        <p:nvSpPr>
          <p:cNvPr id="6" name="Text 4"/>
          <p:cNvSpPr/>
          <p:nvPr/>
        </p:nvSpPr>
        <p:spPr>
          <a:xfrm>
            <a:off x="585216" y="1353312"/>
            <a:ext cx="10927080" cy="621792"/>
          </a:xfrm>
          <a:prstGeom prst="rect">
            <a:avLst/>
          </a:prstGeom>
          <a:noFill/>
          <a:ln/>
        </p:spPr>
        <p:txBody>
          <a:bodyPr wrap="square" lIns="0" tIns="0" rIns="0" bIns="0" rtlCol="0" anchor="ctr">
            <a:normAutofit/>
          </a:bodyPr>
          <a:lstStyle/>
          <a:p>
            <a:pPr algn="l" indent="0" marL="0">
              <a:buNone/>
            </a:pPr>
            <a:r>
              <a:rPr lang="en-US" sz="2950" b="1" dirty="0">
                <a:solidFill>
                  <a:srgbClr val="152A3A"/>
                </a:solidFill>
                <a:latin typeface="Aptos" pitchFamily="34" charset="0"/>
                <a:ea typeface="Aptos" pitchFamily="34" charset="-122"/>
                <a:cs typeface="Aptos" pitchFamily="34" charset="-120"/>
              </a:rPr>
              <a:t>Local validation vs. Codabench</a:t>
            </a:r>
            <a:endParaRPr lang="en-US" sz="2950" dirty="0"/>
          </a:p>
        </p:txBody>
      </p:sp>
      <p:sp>
        <p:nvSpPr>
          <p:cNvPr id="7" name="Text 5"/>
          <p:cNvSpPr/>
          <p:nvPr/>
        </p:nvSpPr>
        <p:spPr>
          <a:xfrm>
            <a:off x="603504" y="1984248"/>
            <a:ext cx="10424160" cy="457200"/>
          </a:xfrm>
          <a:prstGeom prst="rect">
            <a:avLst/>
          </a:prstGeom>
          <a:noFill/>
          <a:ln/>
        </p:spPr>
        <p:txBody>
          <a:bodyPr wrap="square" lIns="0" tIns="0" rIns="0" bIns="0" rtlCol="0" anchor="ctr">
            <a:normAutofit/>
          </a:bodyPr>
          <a:lstStyle/>
          <a:p>
            <a:pPr algn="l" indent="0" marL="0">
              <a:buNone/>
            </a:pPr>
            <a:r>
              <a:rPr lang="en-US" sz="1440" dirty="0">
                <a:solidFill>
                  <a:srgbClr val="526675"/>
                </a:solidFill>
                <a:latin typeface="Aptos" pitchFamily="34" charset="0"/>
                <a:ea typeface="Aptos" pitchFamily="34" charset="-122"/>
                <a:cs typeface="Aptos" pitchFamily="34" charset="-120"/>
              </a:rPr>
              <a:t>Report these values separately—do not treat them as identical metrics.</a:t>
            </a:r>
            <a:endParaRPr lang="en-US" sz="1440" dirty="0"/>
          </a:p>
        </p:txBody>
      </p:sp>
      <p:sp>
        <p:nvSpPr>
          <p:cNvPr id="8" name="Shape 6"/>
          <p:cNvSpPr/>
          <p:nvPr/>
        </p:nvSpPr>
        <p:spPr>
          <a:xfrm>
            <a:off x="566928" y="6510528"/>
            <a:ext cx="11045952" cy="0"/>
          </a:xfrm>
          <a:prstGeom prst="line">
            <a:avLst/>
          </a:prstGeom>
          <a:noFill/>
          <a:ln w="8890">
            <a:solidFill>
              <a:srgbClr val="DCE5E8"/>
            </a:solidFill>
            <a:prstDash val="solid"/>
          </a:ln>
        </p:spPr>
      </p:sp>
      <p:sp>
        <p:nvSpPr>
          <p:cNvPr id="9" name="Text 7"/>
          <p:cNvSpPr/>
          <p:nvPr/>
        </p:nvSpPr>
        <p:spPr>
          <a:xfrm>
            <a:off x="585216" y="6547104"/>
            <a:ext cx="9144000" cy="173736"/>
          </a:xfrm>
          <a:prstGeom prst="rect">
            <a:avLst/>
          </a:prstGeom>
          <a:noFill/>
          <a:ln/>
        </p:spPr>
        <p:txBody>
          <a:bodyPr wrap="square" lIns="0" tIns="0" rIns="0" bIns="0" rtlCol="0" anchor="ctr">
            <a:normAutofit/>
          </a:bodyPr>
          <a:lstStyle/>
          <a:p>
            <a:pPr algn="l" indent="0" marL="0">
              <a:buNone/>
            </a:pPr>
            <a:r>
              <a:rPr lang="en-US" sz="820" spc="50" kern="0" dirty="0">
                <a:solidFill>
                  <a:srgbClr val="768794"/>
                </a:solidFill>
                <a:latin typeface="Aptos" pitchFamily="34" charset="0"/>
                <a:ea typeface="Aptos" pitchFamily="34" charset="-122"/>
                <a:cs typeface="Aptos" pitchFamily="34" charset="-120"/>
              </a:rPr>
              <a:t>UPAR CHALLENGE 2027  ·  ATTRIBUTE-BASED PEDESTRIAN RETRIEVAL</a:t>
            </a:r>
            <a:endParaRPr lang="en-US" sz="820" dirty="0"/>
          </a:p>
        </p:txBody>
      </p:sp>
      <p:sp>
        <p:nvSpPr>
          <p:cNvPr id="10" name="Shape 8"/>
          <p:cNvSpPr/>
          <p:nvPr/>
        </p:nvSpPr>
        <p:spPr>
          <a:xfrm>
            <a:off x="694944" y="2834640"/>
            <a:ext cx="5193792" cy="2130552"/>
          </a:xfrm>
          <a:prstGeom prst="roundRect">
            <a:avLst>
              <a:gd name="adj" fmla="val 3863"/>
            </a:avLst>
          </a:prstGeom>
          <a:solidFill>
            <a:srgbClr val="F6F8F9"/>
          </a:solidFill>
          <a:ln w="8890">
            <a:solidFill>
              <a:srgbClr val="DCE5E8"/>
            </a:solidFill>
            <a:prstDash val="solid"/>
          </a:ln>
        </p:spPr>
      </p:sp>
      <p:sp>
        <p:nvSpPr>
          <p:cNvPr id="11" name="Text 9"/>
          <p:cNvSpPr/>
          <p:nvPr/>
        </p:nvSpPr>
        <p:spPr>
          <a:xfrm>
            <a:off x="950976" y="3099816"/>
            <a:ext cx="4114800" cy="201168"/>
          </a:xfrm>
          <a:prstGeom prst="rect">
            <a:avLst/>
          </a:prstGeom>
          <a:noFill/>
          <a:ln/>
        </p:spPr>
        <p:txBody>
          <a:bodyPr wrap="square" lIns="0" tIns="0" rIns="0" bIns="0" rtlCol="0" anchor="ctr">
            <a:normAutofit/>
          </a:bodyPr>
          <a:lstStyle/>
          <a:p>
            <a:pPr algn="l" indent="0" marL="0">
              <a:buNone/>
            </a:pPr>
            <a:r>
              <a:rPr lang="en-US" sz="1050" b="1" spc="160" kern="0" dirty="0">
                <a:solidFill>
                  <a:srgbClr val="397D82"/>
                </a:solidFill>
                <a:latin typeface="Aptos" pitchFamily="34" charset="0"/>
                <a:ea typeface="Aptos" pitchFamily="34" charset="-122"/>
                <a:cs typeface="Aptos" pitchFamily="34" charset="-120"/>
              </a:rPr>
              <a:t>PUBLIC VALIDATION</a:t>
            </a:r>
            <a:endParaRPr lang="en-US" sz="1050" dirty="0"/>
          </a:p>
        </p:txBody>
      </p:sp>
      <p:sp>
        <p:nvSpPr>
          <p:cNvPr id="12" name="Text 10"/>
          <p:cNvSpPr/>
          <p:nvPr/>
        </p:nvSpPr>
        <p:spPr>
          <a:xfrm>
            <a:off x="941832" y="3502152"/>
            <a:ext cx="4389120" cy="777240"/>
          </a:xfrm>
          <a:prstGeom prst="rect">
            <a:avLst/>
          </a:prstGeom>
          <a:noFill/>
          <a:ln/>
        </p:spPr>
        <p:txBody>
          <a:bodyPr wrap="square" lIns="0" tIns="0" rIns="0" bIns="0" rtlCol="0" anchor="ctr">
            <a:normAutofit/>
          </a:bodyPr>
          <a:lstStyle/>
          <a:p>
            <a:pPr algn="l" indent="0" marL="0">
              <a:buNone/>
            </a:pPr>
            <a:r>
              <a:rPr lang="en-US" sz="4100" b="1" dirty="0">
                <a:solidFill>
                  <a:srgbClr val="152A3A"/>
                </a:solidFill>
                <a:latin typeface="Aptos" pitchFamily="34" charset="0"/>
                <a:ea typeface="Aptos" pitchFamily="34" charset="-122"/>
                <a:cs typeface="Aptos" pitchFamily="34" charset="-120"/>
              </a:rPr>
              <a:t>69.63%</a:t>
            </a:r>
            <a:endParaRPr lang="en-US" sz="4100" dirty="0"/>
          </a:p>
        </p:txBody>
      </p:sp>
      <p:sp>
        <p:nvSpPr>
          <p:cNvPr id="13" name="Text 11"/>
          <p:cNvSpPr/>
          <p:nvPr/>
        </p:nvSpPr>
        <p:spPr>
          <a:xfrm>
            <a:off x="960120" y="4379976"/>
            <a:ext cx="4572000" cy="310896"/>
          </a:xfrm>
          <a:prstGeom prst="rect">
            <a:avLst/>
          </a:prstGeom>
          <a:noFill/>
          <a:ln/>
        </p:spPr>
        <p:txBody>
          <a:bodyPr wrap="square" lIns="0" tIns="0" rIns="0" bIns="0" rtlCol="0" anchor="ctr">
            <a:normAutofit/>
          </a:bodyPr>
          <a:lstStyle/>
          <a:p>
            <a:pPr algn="l" indent="0" marL="0">
              <a:buNone/>
            </a:pPr>
            <a:r>
              <a:rPr lang="en-US" sz="1300" dirty="0">
                <a:solidFill>
                  <a:srgbClr val="526675"/>
                </a:solidFill>
                <a:latin typeface="Aptos" pitchFamily="34" charset="0"/>
                <a:ea typeface="Aptos" pitchFamily="34" charset="-122"/>
                <a:cs typeface="Aptos" pitchFamily="34" charset="-120"/>
              </a:rPr>
              <a:t>mADM  ·  full 3,462-query set</a:t>
            </a:r>
            <a:endParaRPr lang="en-US" sz="1300" dirty="0"/>
          </a:p>
        </p:txBody>
      </p:sp>
      <p:sp>
        <p:nvSpPr>
          <p:cNvPr id="14" name="Shape 12"/>
          <p:cNvSpPr/>
          <p:nvPr/>
        </p:nvSpPr>
        <p:spPr>
          <a:xfrm>
            <a:off x="6281928" y="2834640"/>
            <a:ext cx="5202936" cy="2130552"/>
          </a:xfrm>
          <a:prstGeom prst="roundRect">
            <a:avLst>
              <a:gd name="adj" fmla="val 3863"/>
            </a:avLst>
          </a:prstGeom>
          <a:solidFill>
            <a:srgbClr val="F6F8F9"/>
          </a:solidFill>
          <a:ln w="8890">
            <a:solidFill>
              <a:srgbClr val="DCE5E8"/>
            </a:solidFill>
            <a:prstDash val="solid"/>
          </a:ln>
        </p:spPr>
      </p:sp>
      <p:sp>
        <p:nvSpPr>
          <p:cNvPr id="15" name="Text 13"/>
          <p:cNvSpPr/>
          <p:nvPr/>
        </p:nvSpPr>
        <p:spPr>
          <a:xfrm>
            <a:off x="6537960" y="3099816"/>
            <a:ext cx="4480560" cy="201168"/>
          </a:xfrm>
          <a:prstGeom prst="rect">
            <a:avLst/>
          </a:prstGeom>
          <a:noFill/>
          <a:ln/>
        </p:spPr>
        <p:txBody>
          <a:bodyPr wrap="square" lIns="0" tIns="0" rIns="0" bIns="0" rtlCol="0" anchor="ctr">
            <a:normAutofit/>
          </a:bodyPr>
          <a:lstStyle/>
          <a:p>
            <a:pPr algn="l" indent="0" marL="0">
              <a:buNone/>
            </a:pPr>
            <a:r>
              <a:rPr lang="en-US" sz="1050" b="1" spc="160" kern="0" dirty="0">
                <a:solidFill>
                  <a:srgbClr val="397D82"/>
                </a:solidFill>
                <a:latin typeface="Aptos" pitchFamily="34" charset="0"/>
                <a:ea typeface="Aptos" pitchFamily="34" charset="-122"/>
                <a:cs typeface="Aptos" pitchFamily="34" charset="-120"/>
              </a:rPr>
              <a:t>OFFICIAL CODABENCH DISPLAY</a:t>
            </a:r>
            <a:endParaRPr lang="en-US" sz="1050" dirty="0"/>
          </a:p>
        </p:txBody>
      </p:sp>
      <p:sp>
        <p:nvSpPr>
          <p:cNvPr id="16" name="Text 14"/>
          <p:cNvSpPr/>
          <p:nvPr/>
        </p:nvSpPr>
        <p:spPr>
          <a:xfrm>
            <a:off x="6537960" y="3502152"/>
            <a:ext cx="4416552" cy="777240"/>
          </a:xfrm>
          <a:prstGeom prst="rect">
            <a:avLst/>
          </a:prstGeom>
          <a:noFill/>
          <a:ln/>
        </p:spPr>
        <p:txBody>
          <a:bodyPr wrap="square" lIns="0" tIns="0" rIns="0" bIns="0" rtlCol="0" anchor="ctr">
            <a:normAutofit/>
          </a:bodyPr>
          <a:lstStyle/>
          <a:p>
            <a:pPr algn="l" indent="0" marL="0">
              <a:buNone/>
            </a:pPr>
            <a:r>
              <a:rPr lang="en-US" sz="4100" b="1" dirty="0">
                <a:solidFill>
                  <a:srgbClr val="152A3A"/>
                </a:solidFill>
                <a:latin typeface="Aptos" pitchFamily="34" charset="0"/>
                <a:ea typeface="Aptos" pitchFamily="34" charset="-122"/>
                <a:cs typeface="Aptos" pitchFamily="34" charset="-120"/>
              </a:rPr>
              <a:t>0.5361</a:t>
            </a:r>
            <a:endParaRPr lang="en-US" sz="4100" dirty="0"/>
          </a:p>
        </p:txBody>
      </p:sp>
      <p:sp>
        <p:nvSpPr>
          <p:cNvPr id="17" name="Text 15"/>
          <p:cNvSpPr/>
          <p:nvPr/>
        </p:nvSpPr>
        <p:spPr>
          <a:xfrm>
            <a:off x="6547104" y="4379976"/>
            <a:ext cx="4626864" cy="310896"/>
          </a:xfrm>
          <a:prstGeom prst="rect">
            <a:avLst/>
          </a:prstGeom>
          <a:noFill/>
          <a:ln/>
        </p:spPr>
        <p:txBody>
          <a:bodyPr wrap="square" lIns="0" tIns="0" rIns="0" bIns="0" rtlCol="0" anchor="ctr">
            <a:normAutofit/>
          </a:bodyPr>
          <a:lstStyle/>
          <a:p>
            <a:pPr algn="l" indent="0" marL="0">
              <a:buNone/>
            </a:pPr>
            <a:r>
              <a:rPr lang="en-US" sz="1300" dirty="0">
                <a:solidFill>
                  <a:srgbClr val="526675"/>
                </a:solidFill>
                <a:latin typeface="Aptos" pitchFamily="34" charset="0"/>
                <a:ea typeface="Aptos" pitchFamily="34" charset="-122"/>
                <a:cs typeface="Aptos" pitchFamily="34" charset="-120"/>
              </a:rPr>
              <a:t>Submission 1001454  ·  Finished</a:t>
            </a:r>
            <a:endParaRPr lang="en-US" sz="1300" dirty="0"/>
          </a:p>
        </p:txBody>
      </p:sp>
      <p:sp>
        <p:nvSpPr>
          <p:cNvPr id="18" name="Shape 16"/>
          <p:cNvSpPr/>
          <p:nvPr/>
        </p:nvSpPr>
        <p:spPr>
          <a:xfrm>
            <a:off x="758952" y="5449824"/>
            <a:ext cx="10625328" cy="0"/>
          </a:xfrm>
          <a:prstGeom prst="line">
            <a:avLst/>
          </a:prstGeom>
          <a:noFill/>
          <a:ln w="12700">
            <a:solidFill>
              <a:srgbClr val="DCE5E8"/>
            </a:solidFill>
            <a:prstDash val="solid"/>
          </a:ln>
        </p:spPr>
      </p:sp>
      <p:sp>
        <p:nvSpPr>
          <p:cNvPr id="19" name="Text 17"/>
          <p:cNvSpPr/>
          <p:nvPr/>
        </p:nvSpPr>
        <p:spPr>
          <a:xfrm>
            <a:off x="822960" y="5715000"/>
            <a:ext cx="5577840" cy="274320"/>
          </a:xfrm>
          <a:prstGeom prst="rect">
            <a:avLst/>
          </a:prstGeom>
          <a:noFill/>
          <a:ln/>
        </p:spPr>
        <p:txBody>
          <a:bodyPr wrap="square" lIns="0" tIns="0" rIns="0" bIns="0" rtlCol="0" anchor="ctr">
            <a:normAutofit/>
          </a:bodyPr>
          <a:lstStyle/>
          <a:p>
            <a:pPr algn="l" indent="0" marL="0">
              <a:buNone/>
            </a:pPr>
            <a:r>
              <a:rPr lang="en-US" sz="1220" dirty="0">
                <a:solidFill>
                  <a:srgbClr val="526675"/>
                </a:solidFill>
                <a:latin typeface="Aptos" pitchFamily="34" charset="0"/>
                <a:ea typeface="Aptos" pitchFamily="34" charset="-122"/>
                <a:cs typeface="Aptos" pitchFamily="34" charset="-120"/>
              </a:rPr>
              <a:t>Earlier Codabench submission 1000643:  0.4826</a:t>
            </a:r>
            <a:endParaRPr lang="en-US" sz="1220" dirty="0"/>
          </a:p>
        </p:txBody>
      </p:sp>
      <p:sp>
        <p:nvSpPr>
          <p:cNvPr id="20" name="Text 18"/>
          <p:cNvSpPr/>
          <p:nvPr/>
        </p:nvSpPr>
        <p:spPr>
          <a:xfrm>
            <a:off x="6501384" y="5696712"/>
            <a:ext cx="4837176" cy="329184"/>
          </a:xfrm>
          <a:prstGeom prst="rect">
            <a:avLst/>
          </a:prstGeom>
          <a:noFill/>
          <a:ln/>
        </p:spPr>
        <p:txBody>
          <a:bodyPr wrap="square" lIns="0" tIns="0" rIns="0" bIns="0" rtlCol="0" anchor="ctr">
            <a:normAutofit/>
          </a:bodyPr>
          <a:lstStyle/>
          <a:p>
            <a:pPr algn="r" indent="0" marL="0">
              <a:buNone/>
            </a:pPr>
            <a:r>
              <a:rPr lang="en-US" sz="1100" i="1" dirty="0">
                <a:solidFill>
                  <a:srgbClr val="526675"/>
                </a:solidFill>
                <a:latin typeface="Aptos" pitchFamily="34" charset="0"/>
                <a:ea typeface="Aptos" pitchFamily="34" charset="-122"/>
                <a:cs typeface="Aptos" pitchFamily="34" charset="-120"/>
              </a:rPr>
              <a:t>Different evaluation phase / metric / split cannot be ruled out.</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52A3A"/>
        </a:solidFill>
      </p:bgPr>
    </p:bg>
    <p:spTree>
      <p:nvGrpSpPr>
        <p:cNvPr id="1" name=""/>
        <p:cNvGrpSpPr/>
        <p:nvPr/>
      </p:nvGrpSpPr>
      <p:grpSpPr>
        <a:xfrm>
          <a:off x="0" y="0"/>
          <a:ext cx="0" cy="0"/>
          <a:chOff x="0" y="0"/>
          <a:chExt cx="0" cy="0"/>
        </a:xfrm>
      </p:grpSpPr>
      <p:sp>
        <p:nvSpPr>
          <p:cNvPr id="2" name="Text 0"/>
          <p:cNvSpPr/>
          <p:nvPr/>
        </p:nvSpPr>
        <p:spPr>
          <a:xfrm>
            <a:off x="868680" y="932688"/>
            <a:ext cx="9144000" cy="320040"/>
          </a:xfrm>
          <a:prstGeom prst="rect">
            <a:avLst/>
          </a:prstGeom>
          <a:noFill/>
          <a:ln/>
        </p:spPr>
        <p:txBody>
          <a:bodyPr wrap="square" lIns="0" tIns="0" rIns="0" bIns="0" rtlCol="0" anchor="ctr">
            <a:normAutofit/>
          </a:bodyPr>
          <a:lstStyle/>
          <a:p>
            <a:pPr algn="l" indent="0" marL="0">
              <a:buNone/>
            </a:pPr>
            <a:r>
              <a:rPr lang="en-US" sz="1280" b="1" spc="150" kern="0" dirty="0">
                <a:solidFill>
                  <a:srgbClr val="B7D5D6"/>
                </a:solidFill>
                <a:latin typeface="Aptos" pitchFamily="34" charset="0"/>
                <a:ea typeface="Aptos" pitchFamily="34" charset="-122"/>
                <a:cs typeface="Aptos" pitchFamily="34" charset="-120"/>
              </a:rPr>
              <a:t>PROJECT TAKEAWAY</a:t>
            </a:r>
            <a:endParaRPr lang="en-US" sz="1280" dirty="0"/>
          </a:p>
        </p:txBody>
      </p:sp>
      <p:sp>
        <p:nvSpPr>
          <p:cNvPr id="3" name="Text 1"/>
          <p:cNvSpPr/>
          <p:nvPr/>
        </p:nvSpPr>
        <p:spPr>
          <a:xfrm>
            <a:off x="859536" y="1700784"/>
            <a:ext cx="10515600" cy="1984248"/>
          </a:xfrm>
          <a:prstGeom prst="rect">
            <a:avLst/>
          </a:prstGeom>
          <a:noFill/>
          <a:ln/>
        </p:spPr>
        <p:txBody>
          <a:bodyPr wrap="square" lIns="0" tIns="0" rIns="0" bIns="0" rtlCol="0" anchor="ctr">
            <a:normAutofit/>
          </a:bodyPr>
          <a:lstStyle/>
          <a:p>
            <a:pPr algn="l" indent="0" marL="0">
              <a:buNone/>
            </a:pPr>
            <a:r>
              <a:rPr lang="en-US" sz="3570" b="1" dirty="0">
                <a:solidFill>
                  <a:srgbClr val="FFFFFF"/>
                </a:solidFill>
                <a:latin typeface="Aptos" pitchFamily="34" charset="0"/>
                <a:ea typeface="Aptos" pitchFamily="34" charset="-122"/>
                <a:cs typeface="Aptos" pitchFamily="34" charset="-120"/>
              </a:rPr>
              <a:t>Combining complementary</a:t>
            </a:r>
            <a:endParaRPr lang="en-US" sz="3570" dirty="0"/>
          </a:p>
          <a:p>
            <a:pPr algn="l" indent="0" marL="0">
              <a:buNone/>
            </a:pPr>
            <a:r>
              <a:rPr lang="en-US" sz="3570" b="1" dirty="0">
                <a:solidFill>
                  <a:srgbClr val="FFFFFF"/>
                </a:solidFill>
                <a:latin typeface="Aptos" pitchFamily="34" charset="0"/>
                <a:ea typeface="Aptos" pitchFamily="34" charset="-122"/>
                <a:cs typeface="Aptos" pitchFamily="34" charset="-120"/>
              </a:rPr>
              <a:t>retrieval signals improved</a:t>
            </a:r>
            <a:endParaRPr lang="en-US" sz="3570" dirty="0"/>
          </a:p>
          <a:p>
            <a:pPr algn="l" indent="0" marL="0">
              <a:buNone/>
            </a:pPr>
            <a:r>
              <a:rPr lang="en-US" sz="3570" b="1" dirty="0">
                <a:solidFill>
                  <a:srgbClr val="FFFFFF"/>
                </a:solidFill>
                <a:latin typeface="Aptos" pitchFamily="34" charset="0"/>
                <a:ea typeface="Aptos" pitchFamily="34" charset="-122"/>
                <a:cs typeface="Aptos" pitchFamily="34" charset="-120"/>
              </a:rPr>
              <a:t>local ranking quality.</a:t>
            </a:r>
            <a:endParaRPr lang="en-US" sz="3570" dirty="0"/>
          </a:p>
        </p:txBody>
      </p:sp>
      <p:sp>
        <p:nvSpPr>
          <p:cNvPr id="4" name="Shape 2"/>
          <p:cNvSpPr/>
          <p:nvPr/>
        </p:nvSpPr>
        <p:spPr>
          <a:xfrm>
            <a:off x="859536" y="4352544"/>
            <a:ext cx="5495544" cy="73152"/>
          </a:xfrm>
          <a:prstGeom prst="rect">
            <a:avLst/>
          </a:prstGeom>
          <a:solidFill>
            <a:srgbClr val="397D82"/>
          </a:solidFill>
          <a:ln w="12700">
            <a:solidFill>
              <a:srgbClr val="397D82">
                <a:alpha val="0"/>
              </a:srgbClr>
            </a:solidFill>
            <a:prstDash val="solid"/>
          </a:ln>
        </p:spPr>
      </p:sp>
      <p:sp>
        <p:nvSpPr>
          <p:cNvPr id="5" name="Text 3"/>
          <p:cNvSpPr/>
          <p:nvPr/>
        </p:nvSpPr>
        <p:spPr>
          <a:xfrm>
            <a:off x="877824" y="4727448"/>
            <a:ext cx="8869680" cy="448056"/>
          </a:xfrm>
          <a:prstGeom prst="rect">
            <a:avLst/>
          </a:prstGeom>
          <a:noFill/>
          <a:ln/>
        </p:spPr>
        <p:txBody>
          <a:bodyPr wrap="square" lIns="0" tIns="0" rIns="0" bIns="0" rtlCol="0" anchor="ctr">
            <a:normAutofit/>
          </a:bodyPr>
          <a:lstStyle/>
          <a:p>
            <a:pPr algn="l" indent="0" marL="0">
              <a:buNone/>
            </a:pPr>
            <a:r>
              <a:rPr lang="en-US" sz="2080" b="1" dirty="0">
                <a:solidFill>
                  <a:srgbClr val="FFFFFF"/>
                </a:solidFill>
                <a:latin typeface="Aptos" pitchFamily="34" charset="0"/>
                <a:ea typeface="Aptos" pitchFamily="34" charset="-122"/>
                <a:cs typeface="Aptos" pitchFamily="34" charset="-120"/>
              </a:rPr>
              <a:t>69.63%  mADM  ·  full public validation</a:t>
            </a:r>
            <a:endParaRPr lang="en-US" sz="2080" dirty="0"/>
          </a:p>
        </p:txBody>
      </p:sp>
      <p:sp>
        <p:nvSpPr>
          <p:cNvPr id="6" name="Text 4"/>
          <p:cNvSpPr/>
          <p:nvPr/>
        </p:nvSpPr>
        <p:spPr>
          <a:xfrm>
            <a:off x="877824" y="5385816"/>
            <a:ext cx="10332720" cy="411480"/>
          </a:xfrm>
          <a:prstGeom prst="rect">
            <a:avLst/>
          </a:prstGeom>
          <a:noFill/>
          <a:ln/>
        </p:spPr>
        <p:txBody>
          <a:bodyPr wrap="square" lIns="0" tIns="0" rIns="0" bIns="0" rtlCol="0" anchor="ctr">
            <a:normAutofit/>
          </a:bodyPr>
          <a:lstStyle/>
          <a:p>
            <a:pPr algn="l" indent="0" marL="0">
              <a:buNone/>
            </a:pPr>
            <a:r>
              <a:rPr lang="en-US" sz="1460" dirty="0">
                <a:solidFill>
                  <a:srgbClr val="B8C6CB"/>
                </a:solidFill>
                <a:latin typeface="Aptos" pitchFamily="34" charset="0"/>
                <a:ea typeface="Aptos" pitchFamily="34" charset="-122"/>
                <a:cs typeface="Aptos" pitchFamily="34" charset="-120"/>
              </a:rPr>
              <a:t>Next: stronger attribute recognition  ·  held-out validation  ·  reproducibility</a:t>
            </a:r>
            <a:endParaRPr lang="en-US" sz="1460" dirty="0"/>
          </a:p>
        </p:txBody>
      </p:sp>
      <p:sp>
        <p:nvSpPr>
          <p:cNvPr id="7" name="Text 5"/>
          <p:cNvSpPr/>
          <p:nvPr/>
        </p:nvSpPr>
        <p:spPr>
          <a:xfrm>
            <a:off x="877824" y="6071616"/>
            <a:ext cx="10149840" cy="274320"/>
          </a:xfrm>
          <a:prstGeom prst="rect">
            <a:avLst/>
          </a:prstGeom>
          <a:noFill/>
          <a:ln/>
        </p:spPr>
        <p:txBody>
          <a:bodyPr wrap="square" lIns="0" tIns="0" rIns="0" bIns="0" rtlCol="0" anchor="ctr">
            <a:normAutofit/>
          </a:bodyPr>
          <a:lstStyle/>
          <a:p>
            <a:pPr algn="l" indent="0" marL="0">
              <a:buNone/>
            </a:pPr>
            <a:r>
              <a:rPr lang="en-US" sz="1200" dirty="0">
                <a:solidFill>
                  <a:srgbClr val="A6BBC3"/>
                </a:solidFill>
                <a:latin typeface="Aptos" pitchFamily="34" charset="0"/>
                <a:ea typeface="Aptos" pitchFamily="34" charset="-122"/>
                <a:cs typeface="Aptos" pitchFamily="34" charset="-120"/>
              </a:rPr>
              <a:t>github.com/hamza26051/cv-assignment</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FAST-NUCES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UPAR Track 2 | Project Demo Presentation</dc:title>
  <dc:subject>Attribute-based pedestrian retrieval: demo and research results</dc:subject>
  <dc:creator>UPAR Challenge 2027 Track 2 Team</dc:creator>
  <cp:lastModifiedBy>UPAR Challenge 2027 Track 2 Team</cp:lastModifiedBy>
  <cp:revision>1</cp:revision>
  <dcterms:created xsi:type="dcterms:W3CDTF">2026-10-22T15:55:14Z</dcterms:created>
  <dcterms:modified xsi:type="dcterms:W3CDTF">2026-10-22T15:55:14Z</dcterms:modified>
</cp:coreProperties>
</file>